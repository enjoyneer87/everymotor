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오늘은 motorAI 서로게이트가 지금 어떤 상태이고, 무엇을 어떻게 고쳐 나가고 있는지</a:t>
            </a:r>
          </a:p>
          <a:p>
            <a:r>
              <a:rPr sz="1100">
                <a:latin typeface="맑은 고딕"/>
              </a:rPr>
              <a:t>짧게 공유하겠습니다. 10분 남짓 보시면 됩니다.</a:t>
            </a:r>
          </a:p>
          <a:p/>
          <a:p>
            <a:r>
              <a:rPr sz="1100">
                <a:latin typeface="맑은 고딕"/>
              </a:rPr>
              <a:t>한 줄로 먼저 말씀드리면 — Motor-CAD 해석을 대신 계산해 주는 AI 모델을 만들고 있고,</a:t>
            </a:r>
          </a:p>
          <a:p>
            <a:r>
              <a:rPr sz="1100">
                <a:latin typeface="맑은 고딕"/>
              </a:rPr>
              <a:t>지금 공극 자속밀도 오차 6.62%, 토크 오차 3.27%입니다. 합격선은 5%와 3%입니다.</a:t>
            </a:r>
          </a:p>
          <a:p>
            <a:r>
              <a:rPr sz="1100">
                <a:latin typeface="맑은 고딕"/>
              </a:rPr>
              <a:t>공극은 1.62%p, 토크는 0.27%p 남았습니다.</a:t>
            </a:r>
          </a:p>
          <a:p>
            <a:r>
              <a:rPr sz="1100">
                <a:latin typeface="맑은 고딕"/>
              </a:rPr>
              <a:t>얼마 전까지 토크 5.4%, 공극 7.3%였으니 최근에 크게 움직인 겁니다.</a:t>
            </a:r>
          </a:p>
          <a:p>
            <a:r>
              <a:rPr sz="1100">
                <a:latin typeface="맑은 고딕"/>
              </a:rPr>
              <a:t>그리고 전류를 바꿔도 통하는 모델이 처음으로 생겼습니다 — 학습에 없던</a:t>
            </a:r>
          </a:p>
          <a:p>
            <a:r>
              <a:rPr sz="1100">
                <a:latin typeface="맑은 고딕"/>
              </a:rPr>
              <a:t>형상과 전류 조합에서 공극 5.35%, 토크 2.61%입니다.</a:t>
            </a:r>
          </a:p>
          <a:p>
            <a:r>
              <a:rPr sz="1100">
                <a:latin typeface="맑은 고딕"/>
              </a:rPr>
              <a:t>무엇이 그걸 움직였고 다음에 뭘 할 건지가 오늘 내용입니다.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결론부터 세 칸으로 요약했습니다.</a:t>
            </a:r>
          </a:p>
          <a:p/>
          <a:p>
            <a:r>
              <a:rPr sz="1100">
                <a:latin typeface="맑은 고딕"/>
              </a:rPr>
              <a:t>왼쪽, 지금 위치. 공극 오차 6.62%, 토크 오차 3.27%입니다. 합격선은 5%와 3%.</a:t>
            </a:r>
          </a:p>
          <a:p>
            <a:r>
              <a:rPr sz="1100">
                <a:latin typeface="맑은 고딕"/>
              </a:rPr>
              <a:t>"오차 6%"는 시험용 형상에서 AI 예측과 FEM 참값의 차이를 참값 크기로 나눈 값입니다.</a:t>
            </a:r>
          </a:p>
          <a:p>
            <a:r>
              <a:rPr sz="1100">
                <a:latin typeface="맑은 고딕"/>
              </a:rPr>
              <a:t>미학습 형상×전류 조합에서도 공극 5.35%, 토크 2.61%로 통합니다.</a:t>
            </a:r>
          </a:p>
          <a:p>
            <a:r>
              <a:rPr sz="1100">
                <a:latin typeface="맑은 고딕"/>
              </a:rPr>
              <a:t>다만 용도를 나눠서 봐야 합니다. "후보 설계 여럿 중 좋은 것을 골라내는" 용도는</a:t>
            </a:r>
          </a:p>
          <a:p>
            <a:r>
              <a:rPr sz="1100">
                <a:latin typeface="맑은 고딕"/>
              </a:rPr>
              <a:t>지금 정확도로 이미 됩니다 — 순위가 FEM과 일치합니다. 뒤에 근거를 보여드립니다.</a:t>
            </a:r>
          </a:p>
          <a:p>
            <a:r>
              <a:rPr sz="1100">
                <a:latin typeface="맑은 고딕"/>
              </a:rPr>
              <a:t>"이 설계의 토크가 몇 N·m이다"라고 정량으로 쓰는 건 아직 안 됩니다.</a:t>
            </a:r>
          </a:p>
          <a:p/>
          <a:p>
            <a:r>
              <a:rPr sz="1100">
                <a:latin typeface="맑은 고딕"/>
              </a:rPr>
              <a:t>가운데, 왜 안 내려가느냐. 이게 지난 몇 주의 핵심 결과입니다.</a:t>
            </a:r>
          </a:p>
          <a:p>
            <a:r>
              <a:rPr sz="1100">
                <a:latin typeface="맑은 고딕"/>
              </a:rPr>
              <a:t>모델을 키우고, 학습 방법을 바꾸고, 구조를 바꾸고, 출력 방식을 바꿨습니다.</a:t>
            </a:r>
          </a:p>
          <a:p>
            <a:r>
              <a:rPr sz="1100">
                <a:latin typeface="맑은 고딕"/>
              </a:rPr>
              <a:t>한 번에 하나씩만 바꿔서 원인을 특정할 수 있게요. 전부 효과가 없었습니다.</a:t>
            </a:r>
          </a:p>
          <a:p>
            <a:r>
              <a:rPr sz="1100">
                <a:latin typeface="맑은 고딕"/>
              </a:rPr>
              <a:t>효과가 있던 건 학습 데이터 양 하나뿐인데, 줄어드는 속도가 너무 느려서</a:t>
            </a:r>
          </a:p>
          <a:p>
            <a:r>
              <a:rPr sz="1100">
                <a:latin typeface="맑은 고딕"/>
              </a:rPr>
              <a:t>그 길로는 합격선까지 못 갑니다.</a:t>
            </a:r>
          </a:p>
          <a:p/>
          <a:p>
            <a:r>
              <a:rPr sz="1100">
                <a:latin typeface="맑은 고딕"/>
              </a:rPr>
              <a:t>오른쪽, 그래서 뭘 했고 뭐가 나왔나. 간이 자기해석(선형 계산) 결과를</a:t>
            </a:r>
          </a:p>
          <a:p>
            <a:r>
              <a:rPr sz="1100">
                <a:latin typeface="맑은 고딕"/>
              </a:rPr>
              <a:t>AI 입력에 힌트로 넣었습니다. 토크가 5.40에서 3.35%로 움직였습니다.</a:t>
            </a:r>
          </a:p>
          <a:p>
            <a:r>
              <a:rPr sz="1100">
                <a:latin typeface="맑은 고딕"/>
              </a:rPr>
              <a:t>합격선 3%까지 0.35%p 남았습니다.</a:t>
            </a:r>
          </a:p>
          <a:p>
            <a:r>
              <a:rPr sz="1100">
                <a:latin typeface="맑은 고딕"/>
              </a:rPr>
              <a:t>다만 정직하게 말씀드리면, 결과를 보기 전에 정해둔 1차 판정 기준은 공극이었고</a:t>
            </a:r>
          </a:p>
          <a:p>
            <a:r>
              <a:rPr sz="1100">
                <a:latin typeface="맑은 고딕"/>
              </a:rPr>
              <a:t>그 기준은 통과하지 못했습니다. 공극 7.138%인데 기준이 7.05% 미만이었습니다.</a:t>
            </a:r>
          </a:p>
          <a:p>
            <a:r>
              <a:rPr sz="1100">
                <a:latin typeface="맑은 고딕"/>
              </a:rPr>
              <a:t>0.09%p 차이인데, 이 정도는 학습을 다시 돌릴 때마다 생기는 우연 변동 폭 안이라</a:t>
            </a:r>
          </a:p>
          <a:p>
            <a:r>
              <a:rPr sz="1100">
                <a:latin typeface="맑은 고딕"/>
              </a:rPr>
              <a:t>"넘었다"고 주장할 수 없습니다. 그래서 "1차 기준은 미달, 토크는 크게 개선" —</a:t>
            </a:r>
          </a:p>
          <a:p>
            <a:r>
              <a:rPr sz="1100">
                <a:latin typeface="맑은 고딕"/>
              </a:rPr>
              <a:t>두 사실을 그대로 같이 보고합니다.</a:t>
            </a:r>
          </a:p>
          <a:p/>
          <a:p>
            <a:r>
              <a:rPr sz="1100">
                <a:latin typeface="맑은 고딕"/>
              </a:rPr>
              <a:t>그 다음으로 형상에 전류축을 더한 320케이스를 학습시켰고, 그게 지금 성적입니다.</a:t>
            </a:r>
          </a:p>
          <a:p>
            <a:r>
              <a:rPr sz="1100">
                <a:latin typeface="맑은 고딕"/>
              </a:rPr>
              <a:t>공극이 7.14에서 6.62%로 내려왔고, 전류를 바꿔도 통하는 걸 확인했습니다.</a:t>
            </a:r>
          </a:p>
          <a:p>
            <a:r>
              <a:rPr sz="1100">
                <a:latin typeface="맑은 고딕"/>
              </a:rPr>
              <a:t>지금은 480케이스 확장 데이터를 생성하고 있습니다.</a:t>
            </a:r>
          </a:p>
          <a:p/>
          <a:p>
            <a:r>
              <a:rPr sz="1100">
                <a:latin typeface="맑은 고딕"/>
              </a:rPr>
              <a:t>한 문장으로 줄이면 아래 박스입니다.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배경을 짧게 짚고 가겠습니다.</a:t>
            </a:r>
          </a:p>
          <a:p/>
          <a:p>
            <a:r>
              <a:rPr sz="1100">
                <a:latin typeface="맑은 고딕"/>
              </a:rPr>
              <a:t>Motor-CAD로 IPM 한 케이스를 45개 회전 자세까지 풀면 160초 정도 걸립니다.</a:t>
            </a:r>
          </a:p>
          <a:p>
            <a:r>
              <a:rPr sz="1100">
                <a:latin typeface="맑은 고딕"/>
              </a:rPr>
              <a:t>설계 공간을 훑으려면 이걸 수천 번 해야 하니 감당이 안 됩니다.</a:t>
            </a:r>
          </a:p>
          <a:p>
            <a:r>
              <a:rPr sz="1100">
                <a:latin typeface="맑은 고딕"/>
              </a:rPr>
              <a:t>저희 DOE를 120케이스 늘리는 데만 대여섯 시간 걸렸습니다.</a:t>
            </a:r>
          </a:p>
          <a:p/>
          <a:p>
            <a:r>
              <a:rPr sz="1100">
                <a:latin typeface="맑은 고딕"/>
              </a:rPr>
              <a:t>그래서 대신 계산해 주는 AI를 학습시킵니다. 메시를 점과 선의 그래프로 바꿔서 넣습니다.</a:t>
            </a:r>
          </a:p>
          <a:p>
            <a:r>
              <a:rPr sz="1100">
                <a:latin typeface="맑은 고딕"/>
              </a:rPr>
              <a:t>왜 이 방식이냐 하면, 형상이 바뀌면 메시가 통째로 달라지기 때문입니다.</a:t>
            </a:r>
          </a:p>
          <a:p>
            <a:r>
              <a:rPr sz="1100">
                <a:latin typeface="맑은 고딕"/>
              </a:rPr>
              <a:t>사진처럼 규칙적인 격자를 전제하는 AI로는 IPM 형상을 담을 수가 없습니다.</a:t>
            </a:r>
          </a:p>
          <a:p>
            <a:r>
              <a:rPr sz="1100">
                <a:latin typeface="맑은 고딕"/>
              </a:rPr>
              <a:t>모델은 MeshGraphNet인데, 개념적으로는 각 절점이 이웃과 열다섯 번 정보를 주고받으면서</a:t>
            </a:r>
          </a:p>
          <a:p>
            <a:r>
              <a:rPr sz="1100">
                <a:latin typeface="맑은 고딕"/>
              </a:rPr>
              <a:t>자기 값을 갱신하는 구조입니다. FEM이 국소 결합으로 푸는 것과 닮았습니다.</a:t>
            </a:r>
          </a:p>
          <a:p/>
          <a:p>
            <a:r>
              <a:rPr sz="1100">
                <a:latin typeface="맑은 고딕"/>
              </a:rPr>
              <a:t>마지막 항목이 저희가 처음부터 잡고 간 원칙입니다.</a:t>
            </a:r>
          </a:p>
          <a:p>
            <a:r>
              <a:rPr sz="1100">
                <a:latin typeface="맑은 고딕"/>
              </a:rPr>
              <a:t>보통 이런 연구는 필드 오차 수치만 보고합니다. 그런데 설계자가 보는 건 토크입니다.</a:t>
            </a:r>
          </a:p>
          <a:p>
            <a:r>
              <a:rPr sz="1100">
                <a:latin typeface="맑은 고딕"/>
              </a:rPr>
              <a:t>그래서 저희는 AI가 내놓은 장에 공극 응력 적분(Arkkio법)을 걸어 토크까지 계산해서 판정합니다.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지금 성적입니다. 그림에 세 세대가 있습니다. 제일 연한 막대가 champion(물리 힌트 전),</a:t>
            </a:r>
          </a:p>
          <a:p>
            <a:r>
              <a:rPr sz="1100">
                <a:latin typeface="맑은 고딕"/>
              </a:rPr>
              <a:t>중간이 물리 힌트를 넣은 모델, 제일 진한 막대가 현재 v2 — 형상×전류 320케이스로</a:t>
            </a:r>
          </a:p>
          <a:p>
            <a:r>
              <a:rPr sz="1100">
                <a:latin typeface="맑은 고딕"/>
              </a:rPr>
              <a:t>학습한 모델입니다. 빨간 선이 합격선, 진한 회색이 도달 가능한 최저 오차입니다.</a:t>
            </a:r>
          </a:p>
          <a:p/>
          <a:p>
            <a:r>
              <a:rPr sz="1100">
                <a:latin typeface="맑은 고딕"/>
              </a:rPr>
              <a:t>진행을 보면, 토크는 5.40 → 3.35 → 3.27%로 물리 힌트가 크게 움직였고,</a:t>
            </a:r>
          </a:p>
          <a:p>
            <a:r>
              <a:rPr sz="1100">
                <a:latin typeface="맑은 고딕"/>
              </a:rPr>
              <a:t>공극은 7.30 → 7.14 → 6.62%로 전류축 데이터가 움직였습니다.</a:t>
            </a:r>
          </a:p>
          <a:p>
            <a:r>
              <a:rPr sz="1100">
                <a:latin typeface="맑은 고딕"/>
              </a:rPr>
              <a:t>합격선까지 공극 1.62%p, 토크 0.27%p — 역대 가장 가깝습니다.</a:t>
            </a:r>
          </a:p>
          <a:p/>
          <a:p>
            <a:r>
              <a:rPr sz="1100">
                <a:latin typeface="맑은 고딕"/>
              </a:rPr>
              <a:t>정직하게 말씀드릴 것 두 가지. 물리 힌트 실험의 사전 1차 기준(공극 7.05% 미만)은</a:t>
            </a:r>
          </a:p>
          <a:p>
            <a:r>
              <a:rPr sz="1100">
                <a:latin typeface="맑은 고딕"/>
              </a:rPr>
              <a:t>7.138%로 0.09%p 차 미달이었습니다 — 우연 변동 폭 안이라 "넘었다"고 주장하지 않습니다.</a:t>
            </a:r>
          </a:p>
          <a:p>
            <a:r>
              <a:rPr sz="1100">
                <a:latin typeface="맑은 고딕"/>
              </a:rPr>
              <a:t>그리고 v2의 공극 개선 0.52%p는 전류 케이스 40개(형상 20개×2레벨)를 추가한 학습의</a:t>
            </a:r>
          </a:p>
          <a:p>
            <a:r>
              <a:rPr sz="1100">
                <a:latin typeface="맑은 고딕"/>
              </a:rPr>
              <a:t>결과인데, 물리 힌트 없는 대조군이 없어 어느 요소 덕인지 따로 떼어 말할 수는 없습니다.</a:t>
            </a:r>
          </a:p>
          <a:p>
            <a:r>
              <a:rPr sz="1100">
                <a:latin typeface="맑은 고딕"/>
              </a:rPr>
              <a:t>기준을 미리 적어놨기 때문에 이런 보고가 가능합니다.</a:t>
            </a:r>
          </a:p>
          <a:p/>
          <a:p>
            <a:r>
              <a:rPr sz="1100">
                <a:latin typeface="맑은 고딕"/>
              </a:rPr>
              <a:t>세 번째 줄이 다음 작업의 근거입니다. 이 계산 방식의 한계선이 공극 2.68%인데</a:t>
            </a:r>
          </a:p>
          <a:p>
            <a:r>
              <a:rPr sz="1100">
                <a:latin typeface="맑은 고딕"/>
              </a:rPr>
              <a:t>지금 6.62%니까, 방식의 한계가 아니라 학습이 아직 못 따라간 겁니다.</a:t>
            </a:r>
          </a:p>
          <a:p>
            <a:r>
              <a:rPr sz="1100">
                <a:latin typeface="맑은 고딕"/>
              </a:rPr>
              <a:t>3.9%p 여유가 실제로 있으니 여기가 공략 지점입니다.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숫자만 보시면 감이 안 오실 것 같아 실제 장을 띄웠습니다. test 케이스 4번, 회전 10번째 자세입니다.</a:t>
            </a:r>
          </a:p>
          <a:p/>
          <a:p>
            <a:r>
              <a:rPr sz="1100">
                <a:latin typeface="맑은 고딕"/>
              </a:rPr>
              <a:t>행마다 왼쪽이 FEM 참값, 가운데가 서로게이트 예측, 오른쪽이 차이입니다.</a:t>
            </a:r>
          </a:p>
          <a:p>
            <a:r>
              <a:rPr sz="1100">
                <a:latin typeface="맑은 고딕"/>
              </a:rPr>
              <a:t>윗줄이 이전 챔피언, 아랫줄이 물리 prior를 넣은 현재 모델입니다.</a:t>
            </a:r>
          </a:p>
          <a:p/>
          <a:p>
            <a:r>
              <a:rPr sz="1100">
                <a:latin typeface="맑은 고딕"/>
              </a:rPr>
              <a:t>보시면 전체적인 자속 분포 — 자석에서 나와 회전자 철심을 지나 공극을 건너</a:t>
            </a:r>
          </a:p>
          <a:p>
            <a:r>
              <a:rPr sz="1100">
                <a:latin typeface="맑은 고딕"/>
              </a:rPr>
              <a:t>고정자 치로 들어가는 경로 — 는 왼쪽과 가운데가 눈으로 구분이 안 됩니다.</a:t>
            </a:r>
          </a:p>
          <a:p/>
          <a:p>
            <a:r>
              <a:rPr sz="1100">
                <a:latin typeface="맑은 고딕"/>
              </a:rPr>
              <a:t>차이 패널을 보면 오차가 어디 있는지 드러납니다.</a:t>
            </a:r>
          </a:p>
          <a:p>
            <a:r>
              <a:rPr sz="1100">
                <a:latin typeface="맑은 고딕"/>
              </a:rPr>
              <a:t>매끈한 요크나 자석 내부처럼 장이 완만한 곳은 거의 흰색이고,</a:t>
            </a:r>
          </a:p>
          <a:p>
            <a:r>
              <a:rPr sz="1100">
                <a:latin typeface="맑은 고딕"/>
              </a:rPr>
              <a:t>슬롯과 권선 영역, 자석·치 경계처럼 형상이 급하게 꺾이는 곳에 얼룩이 몰려 있습니다.</a:t>
            </a:r>
          </a:p>
          <a:p>
            <a:r>
              <a:rPr sz="1100">
                <a:latin typeface="맑은 고딕"/>
              </a:rPr>
              <a:t>아까 영역별 표에서 권선이 40%, 공극이 7%였던 게 그림으로는 이렇게 보입니다.</a:t>
            </a:r>
          </a:p>
          <a:p/>
          <a:p>
            <a:r>
              <a:rPr sz="1100">
                <a:latin typeface="맑은 고딕"/>
              </a:rPr>
              <a:t>공극을 따라 흰 호가 지나가는데 저건 오차가 아닙니다. 슬라이딩 밴드 요소입니다.</a:t>
            </a:r>
          </a:p>
          <a:p>
            <a:r>
              <a:rPr sz="1100">
                <a:latin typeface="맑은 고딕"/>
              </a:rPr>
              <a:t>회전 자세마다 연결성이 바뀌어서 유효한 형상이 없기 때문에 아예 안 그립니다.</a:t>
            </a:r>
          </a:p>
          <a:p>
            <a:r>
              <a:rPr sz="1100">
                <a:latin typeface="맑은 고딕"/>
              </a:rPr>
              <a:t>1만3천 요소 중 1만1천6백 개만 그려진 이유가 그겁니다.</a:t>
            </a:r>
          </a:p>
          <a:p/>
          <a:p>
            <a:r>
              <a:rPr sz="1100">
                <a:latin typeface="맑은 고딕"/>
              </a:rPr>
              <a:t>한 가지 주의드리면, 패널 제목의 퍼센트는 시험 형상 전체 집계값입니다.</a:t>
            </a:r>
          </a:p>
          <a:p>
            <a:r>
              <a:rPr sz="1100">
                <a:latin typeface="맑은 고딕"/>
              </a:rPr>
              <a:t>이 한 장면의 오차가 아닙니다. 그림과 숫자를 섞어 읽지 않도록 라벨에 명시해뒀습니다.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방금 그 케이스를 한 전기 주기, 45개 회전 자세로 돌린 애니메이션입니다.</a:t>
            </a:r>
          </a:p>
          <a:p>
            <a:r>
              <a:rPr sz="1100">
                <a:latin typeface="맑은 고딕"/>
              </a:rPr>
              <a:t>왼쪽부터 FEM 참값, AI 예측, 차이입니다. 아래는 토크 파형이고 세로선이 현재 자세입니다.</a:t>
            </a:r>
          </a:p>
          <a:p/>
          <a:p>
            <a:r>
              <a:rPr sz="1100">
                <a:latin typeface="맑은 고딕"/>
              </a:rPr>
              <a:t>회전자가 돌면서 자속 경로가 바뀌는 걸 AI가 자세마다 따라가는 게 보입니다.</a:t>
            </a:r>
          </a:p>
          <a:p/>
          <a:p>
            <a:r>
              <a:rPr sz="1100">
                <a:latin typeface="맑은 고딕"/>
              </a:rPr>
              <a:t>토크 곡선 하나만 짚고 가겠습니다. 봉우리를 세보시면 높은 것 낮은 것이 번갈아 12개입니다.</a:t>
            </a:r>
          </a:p>
          <a:p>
            <a:r>
              <a:rPr sz="1100">
                <a:latin typeface="맑은 고딕"/>
              </a:rPr>
              <a:t>3상 기계니까 6개 아니냐고 하실 수 있는데, 이 기계는 슬롯 고조파(12차)가</a:t>
            </a:r>
          </a:p>
          <a:p>
            <a:r>
              <a:rPr sz="1100">
                <a:latin typeface="맑은 고딕"/>
              </a:rPr>
              <a:t>6차보다 1.6~2.1배 커서 12개가 맞습니다. 저희도 처음에 6개를 기대하고 파형이 지저분하다고</a:t>
            </a:r>
          </a:p>
          <a:p>
            <a:r>
              <a:rPr sz="1100">
                <a:latin typeface="맑은 고딕"/>
              </a:rPr>
              <a:t>생각했다가, 주파수 분석으로 확인하고서야 이게 정상 파형이라는 걸 알았습니다.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토크 파형입니다. 이 그림 한 장에 두 가지가 같이 들어 있습니다.</a:t>
            </a:r>
          </a:p>
          <a:p/>
          <a:p>
            <a:r>
              <a:rPr sz="1100">
                <a:latin typeface="맑은 고딕"/>
              </a:rPr>
              <a:t>파란색이 Motor-CAD가 자체 방식(가상일법)으로 계산한 토크입니다. 이게 기준입니다.</a:t>
            </a:r>
          </a:p>
          <a:p>
            <a:r>
              <a:rPr sz="1100">
                <a:latin typeface="맑은 고딕"/>
              </a:rPr>
              <a:t>두 번째 곡선은 FEM이 푼 장에 우리 토크 계산기(Arkkio 적분)를 걸어서 나온 토크입니다.</a:t>
            </a:r>
          </a:p>
          <a:p>
            <a:r>
              <a:rPr sz="1100">
                <a:latin typeface="맑은 고딕"/>
              </a:rPr>
              <a:t>이 둘의 차이가 평균 0.35%입니다. 즉 우리 토크 계산기 자체가 맞다는 뜻입니다.</a:t>
            </a:r>
          </a:p>
          <a:p>
            <a:r>
              <a:rPr sz="1100">
                <a:latin typeface="맑은 고딕"/>
              </a:rPr>
              <a:t>이게 없으면 "AI 토크 오차 3.35%"라는 말이 의미가 없습니다.</a:t>
            </a:r>
          </a:p>
          <a:p>
            <a:r>
              <a:rPr sz="1100">
                <a:latin typeface="맑은 고딕"/>
              </a:rPr>
              <a:t>계산기가 틀렸을 가능성을 먼저 지워야 하니까요.</a:t>
            </a:r>
          </a:p>
          <a:p/>
          <a:p>
            <a:r>
              <a:rPr sz="1100">
                <a:latin typeface="맑은 고딕"/>
              </a:rPr>
              <a:t>빨간색이 AI가 예측한 장에 같은 계산기를 건 결과입니다.</a:t>
            </a:r>
          </a:p>
          <a:p>
            <a:r>
              <a:rPr sz="1100">
                <a:latin typeface="맑은 고딕"/>
              </a:rPr>
              <a:t>그러니까 기준선과 빨간 선 사이의 간격이 순수하게 모델 탓입니다.</a:t>
            </a:r>
          </a:p>
          <a:p/>
          <a:p>
            <a:r>
              <a:rPr sz="1100">
                <a:latin typeface="맑은 고딕"/>
              </a:rPr>
              <a:t>여기는 정직하게 봐주셔야 합니다. 평균 수준과 리플의 큰 주기는 따라갑니다.</a:t>
            </a:r>
          </a:p>
          <a:p>
            <a:r>
              <a:rPr sz="1100">
                <a:latin typeface="맑은 고딕"/>
              </a:rPr>
              <a:t>슬롯 통과로 생기는 골짜기 위치는 대체로 맞습니다.</a:t>
            </a:r>
          </a:p>
          <a:p>
            <a:r>
              <a:rPr sz="1100">
                <a:latin typeface="맑은 고딕"/>
              </a:rPr>
              <a:t>그런데 아래 오차 패널을 보시면, 구간에 따라 오차가 확 커지는 데가 있습니다.</a:t>
            </a:r>
          </a:p>
          <a:p>
            <a:r>
              <a:rPr sz="1100">
                <a:latin typeface="맑은 고딕"/>
              </a:rPr>
              <a:t>전기각 230도에서 280도 사이가 특히 그렇습니다. 여기서 리플 진폭을 과대예측합니다.</a:t>
            </a:r>
          </a:p>
          <a:p>
            <a:r>
              <a:rPr sz="1100">
                <a:latin typeface="맑은 고딕"/>
              </a:rPr>
              <a:t>평균만 맞춘 건 아니지만, 파형을 그대로 쓸 수 있는 수준도 아직 아닙니다.</a:t>
            </a:r>
          </a:p>
          <a:p/>
          <a:p>
            <a:r>
              <a:rPr sz="1100">
                <a:latin typeface="맑은 고딕"/>
              </a:rPr>
              <a:t>test 전체로 집계한 토크 오차가 3.354%인데, 이 그림은 그 숫자가 한 케이스에서</a:t>
            </a:r>
          </a:p>
          <a:p>
            <a:r>
              <a:rPr sz="1100">
                <a:latin typeface="맑은 고딕"/>
              </a:rPr>
              <a:t>어떤 모양으로 나타나는지를 보여주는 겁니다.</a:t>
            </a:r>
          </a:p>
          <a:p>
            <a:r>
              <a:rPr sz="1100">
                <a:latin typeface="맑은 고딕"/>
              </a:rPr>
              <a:t>NVH까지 보시려면 이 빨간 곡선이 초록색만큼 붙어야 하고, 그게 남은 과제입니다.</a:t>
            </a:r>
          </a:p>
          <a:p/>
          <a:p>
            <a:r>
              <a:rPr sz="1100">
                <a:latin typeface="맑은 고딕"/>
              </a:rPr>
              <a:t>참고로 이 검증 수치는 한 번 정정된 적이 있습니다. 문서에 0.60%로 적혀 있었는데</a:t>
            </a:r>
          </a:p>
          <a:p>
            <a:r>
              <a:rPr sz="1100">
                <a:latin typeface="맑은 고딕"/>
              </a:rPr>
              <a:t>어느 커밋된 아티팩트에서도 재현이 안 돼서 재유도했고, 재현되는 값은 0.35%입니다.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이게 진단의 근거입니다. 캠페인 전체를 한 장에 담았습니다.</a:t>
            </a:r>
          </a:p>
          <a:p>
            <a:r>
              <a:rPr sz="1100">
                <a:latin typeface="맑은 고딕"/>
              </a:rPr>
              <a:t>위가 필드 오차, 아래가 토크 오차. 왼쪽에서 오른쪽으로 시간 순서고,</a:t>
            </a:r>
          </a:p>
          <a:p>
            <a:r>
              <a:rPr sz="1100">
                <a:latin typeface="맑은 고딕"/>
              </a:rPr>
              <a:t>각 막대는 바로 앞 구성에서 딱 한 가지만 바꾼 겁니다.</a:t>
            </a:r>
          </a:p>
          <a:p>
            <a:r>
              <a:rPr sz="1100">
                <a:latin typeface="맑은 고딕"/>
              </a:rPr>
              <a:t>바꿔본 네 가지는 앞 요약과 같은 이름으로: 크기, 학습 방법, 구조, 출력 방식입니다.</a:t>
            </a:r>
          </a:p>
          <a:p/>
          <a:p>
            <a:r>
              <a:rPr sz="1100">
                <a:latin typeface="맑은 고딕"/>
              </a:rPr>
              <a:t>파란색은 모델 크기입니다. 모델 내부의 조절 가능한 숫자(파라미터)를 230만 개에서</a:t>
            </a:r>
          </a:p>
          <a:p>
            <a:r>
              <a:rPr sz="1100">
                <a:latin typeface="맑은 고딕"/>
              </a:rPr>
              <a:t>930만 개로 4배 키웠는데 13.0에서 12.7 — 같은 학습을 다시 돌릴 때 생기는</a:t>
            </a:r>
          </a:p>
          <a:p>
            <a:r>
              <a:rPr sz="1100">
                <a:latin typeface="맑은 고딕"/>
              </a:rPr>
              <a:t>우연 변동 폭(0.25%p) 안이라 효과가 없는 겁니다. 층을 깊게 해도 마찬가지입니다.</a:t>
            </a:r>
          </a:p>
          <a:p/>
          <a:p>
            <a:r>
              <a:rPr sz="1100">
                <a:latin typeface="맑은 고딕"/>
              </a:rPr>
              <a:t>초록색은 학습 방법 — 무엇을 맞히도록 채점할지를 바꾼 실험입니다.</a:t>
            </a:r>
          </a:p>
          <a:p>
            <a:r>
              <a:rPr sz="1100">
                <a:latin typeface="맑은 고딕"/>
              </a:rPr>
              <a:t>필드 오차는 평탄합니다. 다만 토크는 움직였습니다 — 이건 뒤에 나옵니다.</a:t>
            </a:r>
          </a:p>
          <a:p/>
          <a:p>
            <a:r>
              <a:rPr sz="1100">
                <a:latin typeface="맑은 고딕"/>
              </a:rPr>
              <a:t>주황색은 모델 구조. 멀리 떨어진 절점끼리도 직접 정보를 주고받게 하는 구조를</a:t>
            </a:r>
          </a:p>
          <a:p>
            <a:r>
              <a:rPr sz="1100">
                <a:latin typeface="맑은 고딕"/>
              </a:rPr>
              <a:t>넣었더니 16.6%로 오히려 나빠졌고, 먼 절점을 직접 잇는 연결선을 추가해도 제자리입니다.</a:t>
            </a:r>
          </a:p>
          <a:p/>
          <a:p>
            <a:r>
              <a:rPr sz="1100">
                <a:latin typeface="맑은 고딕"/>
              </a:rPr>
              <a:t>빨간색은 출력 방식. 18.7%로 크게 나빠졌습니다.</a:t>
            </a:r>
          </a:p>
          <a:p/>
          <a:p>
            <a:r>
              <a:rPr sz="1100">
                <a:latin typeface="맑은 고딕"/>
              </a:rPr>
              <a:t>그리고 오른쪽 끝 청록색이 데이터입니다. 학습 형상 수를 늘렸더니 처음으로 바닥이 깨졌습니다.</a:t>
            </a:r>
          </a:p>
          <a:p/>
          <a:p>
            <a:r>
              <a:rPr sz="1100">
                <a:latin typeface="맑은 고딕"/>
              </a:rPr>
              <a:t>솔직히 말씀드리면 앞의 네 가지는 전부 효과가 없었습니다. 실험의 상당수가 실패였습니다.</a:t>
            </a:r>
          </a:p>
          <a:p>
            <a:r>
              <a:rPr sz="1100">
                <a:latin typeface="맑은 고딕"/>
              </a:rPr>
              <a:t>그런데 이 실패들이 "막힌 곳은 모델이 아니라 데이터, 즉 정보다"라는 진단을 만들어줬습니다.</a:t>
            </a:r>
          </a:p>
          <a:p>
            <a:r>
              <a:rPr sz="1100">
                <a:latin typeface="맑은 고딕"/>
              </a:rPr>
              <a:t>하나씩 지워보지 않았으면 지금 물리 힌트로 가는 근거가 없었을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데이터 축을 자세히 보겠습니다.</a:t>
            </a:r>
          </a:p>
          <a:p/>
          <a:p>
            <a:r>
              <a:rPr sz="1100">
                <a:latin typeface="맑은 고딕"/>
              </a:rPr>
              <a:t>학습 형상을 40, 120, 240으로 늘리면 필드 오차가 12.75에서 11.64%까지 내려갑니다.</a:t>
            </a:r>
          </a:p>
          <a:p>
            <a:r>
              <a:rPr sz="1100">
                <a:latin typeface="맑은 고딕"/>
              </a:rPr>
              <a:t>개선이 광범위합니다 — 6개 평가 형상이 전부, 매 단계마다 좋아집니다.</a:t>
            </a:r>
          </a:p>
          <a:p>
            <a:r>
              <a:rPr sz="1100">
                <a:latin typeface="맑은 고딕"/>
              </a:rPr>
              <a:t>한 케이스가 평균을 끌고 가는 게 아닙니다.</a:t>
            </a:r>
          </a:p>
          <a:p/>
          <a:p>
            <a:r>
              <a:rPr sz="1100">
                <a:latin typeface="맑은 고딕"/>
              </a:rPr>
              <a:t>속이 빈 동그라미를 봐주십시오. 여기에 배울 점이 있습니다.</a:t>
            </a:r>
          </a:p>
          <a:p>
            <a:r>
              <a:rPr sz="1100">
                <a:latin typeface="맑은 고딕"/>
              </a:rPr>
              <a:t>저건 처음 나온 240 결과인데, 데이터를 두 배로 늘렸는데 안 내려갔습니다.</a:t>
            </a:r>
          </a:p>
          <a:p>
            <a:r>
              <a:rPr sz="1100">
                <a:latin typeface="맑은 고딕"/>
              </a:rPr>
              <a:t>그래서 "데이터를 늘려도 더는 안 좋아지는 한계에 닿았다"고 판정했었습니다.</a:t>
            </a:r>
          </a:p>
          <a:p>
            <a:r>
              <a:rPr sz="1100">
                <a:latin typeface="맑은 고딕"/>
              </a:rPr>
              <a:t>원인은 총 계산 시간을 같게 맞추려고 반복 학습 횟수를 절반으로 줄인 것이었습니다.</a:t>
            </a:r>
          </a:p>
          <a:p>
            <a:r>
              <a:rPr sz="1100">
                <a:latin typeface="맑은 고딕"/>
              </a:rPr>
              <a:t>데이터가 두 배면 반복도 두 배가 필요한데, 데이터당 학습량을 반토막 낸 겁니다.</a:t>
            </a:r>
          </a:p>
          <a:p>
            <a:r>
              <a:rPr sz="1100">
                <a:latin typeface="맑은 고딕"/>
              </a:rPr>
              <a:t>다시 돌리니 11.638%가 나왔습니다. 한계에 닿은 게 아니라 학습이 부족했던 겁니다.</a:t>
            </a:r>
          </a:p>
          <a:p>
            <a:r>
              <a:rPr sz="1100">
                <a:latin typeface="맑은 고딕"/>
              </a:rPr>
              <a:t>판정 기준을 미리 적어두고 실험했기 때문에 사후 해석 없이 뒤집을 수 있었습니다.</a:t>
            </a:r>
          </a:p>
          <a:p/>
          <a:p>
            <a:r>
              <a:rPr sz="1100">
                <a:latin typeface="맑은 고딕"/>
              </a:rPr>
              <a:t>그런데 마지막 두 줄이 문제입니다. 합격 기준 항목인 공극 오차 기준으로,</a:t>
            </a:r>
          </a:p>
          <a:p>
            <a:r>
              <a:rPr sz="1100">
                <a:latin typeface="맑은 고딕"/>
              </a:rPr>
              <a:t>줄어드는 속도가 데이터 두 배당 0.32%p입니다.</a:t>
            </a:r>
          </a:p>
          <a:p>
            <a:r>
              <a:rPr sz="1100">
                <a:latin typeface="맑은 고딕"/>
              </a:rPr>
              <a:t>이 속도로 공극 5%까지 가려면 형상이 3만 4천 개 필요하고, Motor-CAD를 62일 연속 돌려야 합니다.</a:t>
            </a:r>
          </a:p>
          <a:p>
            <a:r>
              <a:rPr sz="1100">
                <a:latin typeface="맑은 고딕"/>
              </a:rPr>
              <a:t>현실적으로 안 됩니다. 그래서 다른 레버가 필요하다는 결론이 나온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"그 숫자들을 왜 믿느냐"에 대한 답입니다. 짧게 세 가지만.</a:t>
            </a:r>
          </a:p>
          <a:p/>
          <a:p>
            <a:r>
              <a:rPr sz="1100">
                <a:latin typeface="맑은 고딕"/>
              </a:rPr>
              <a:t>첫째, 컨닝을 잡았습니다. time_s라는 입력값이 있었는데,</a:t>
            </a:r>
          </a:p>
          <a:p>
            <a:r>
              <a:rPr sz="1100">
                <a:latin typeface="맑은 고딕"/>
              </a:rPr>
              <a:t>저희 DOE는 전 케이스가 같은 속도라 이게 회전자각과 완전히 같은 정보였습니다</a:t>
            </a:r>
          </a:p>
          <a:p>
            <a:r>
              <a:rPr sz="1100">
                <a:latin typeface="맑은 고딕"/>
              </a:rPr>
              <a:t>(상관계수 1.0000 — 두 값이 완벽히 같이 움직인다는 뜻).</a:t>
            </a:r>
          </a:p>
          <a:p>
            <a:r>
              <a:rPr sz="1100">
                <a:latin typeface="맑은 고딕"/>
              </a:rPr>
              <a:t>독립 정보가 하나도 없는 중복 입력인데 AI가 이걸 주 단서로 학습했습니다.</a:t>
            </a:r>
          </a:p>
          <a:p>
            <a:r>
              <a:rPr sz="1100">
                <a:latin typeface="맑은 고딕"/>
              </a:rPr>
              <a:t>이 값만 바꿔서 다시 예측시키니 토크가 −264에서 +48로 부호까지 뒤집혔습니다.</a:t>
            </a:r>
          </a:p>
          <a:p>
            <a:r>
              <a:rPr sz="1100">
                <a:latin typeface="맑은 고딕"/>
              </a:rPr>
              <a:t>제거하고 홀드아웃을 케이스 단위로 바꾸니 그때까지 비교하던 모든 모델의 순위가 바뀌었습니다.</a:t>
            </a:r>
          </a:p>
          <a:p>
            <a:r>
              <a:rPr sz="1100">
                <a:latin typeface="맑은 고딕"/>
              </a:rPr>
              <a:t>즉 그 전의 비교는 전부 무의미했습니다. 필드 오차만 봤으면 못 잡았을 겁니다.</a:t>
            </a:r>
          </a:p>
          <a:p/>
          <a:p>
            <a:r>
              <a:rPr sz="1100">
                <a:latin typeface="맑은 고딕"/>
              </a:rPr>
              <a:t>둘째, 표현 바닥값입니다. 성능이 안 나올 때 모델을 탓하기 전에,</a:t>
            </a:r>
          </a:p>
          <a:p>
            <a:r>
              <a:rPr sz="1100">
                <a:latin typeface="맑은 고딕"/>
              </a:rPr>
              <a:t>참값을 그 출력 표현으로 한 번 왕복시켜 보면 도달 불가능한 하한이 나옵니다.</a:t>
            </a:r>
          </a:p>
          <a:p>
            <a:r>
              <a:rPr sz="1100">
                <a:latin typeface="맑은 고딕"/>
              </a:rPr>
              <a:t>절점 왕복 방식은 토크 바닥이 59%입니다. 쓸 수가 없죠.</a:t>
            </a:r>
          </a:p>
          <a:p>
            <a:r>
              <a:rPr sz="1100">
                <a:latin typeface="맑은 고딕"/>
              </a:rPr>
              <a:t>이산 curl은 1.6%입니다. 표현만 바꿔도 37배 차이가 납니다.</a:t>
            </a:r>
          </a:p>
          <a:p/>
          <a:p>
            <a:r>
              <a:rPr sz="1100">
                <a:latin typeface="맑은 고딕"/>
              </a:rPr>
              <a:t>셋째, 토크 계산기 자체를 Motor-CAD와 대조했습니다. 평균 차이 0.35%,</a:t>
            </a:r>
          </a:p>
          <a:p>
            <a:r>
              <a:rPr sz="1100">
                <a:latin typeface="맑은 고딕"/>
              </a:rPr>
              <a:t>파형 상관계수 0.9955 — 두 곡선이 거의 같은 모양으로 움직인다는 뜻입니다.</a:t>
            </a:r>
          </a:p>
          <a:p>
            <a:r>
              <a:rPr sz="1100">
                <a:latin typeface="맑은 고딕"/>
              </a:rPr>
              <a:t>그래서 토크를 1급 지표로 쓸 수 있는 겁니다.</a:t>
            </a:r>
          </a:p>
          <a:p/>
          <a:p>
            <a:r>
              <a:rPr sz="1100">
                <a:latin typeface="맑은 고딕"/>
              </a:rPr>
              <a:t>이 세 가지가 없었으면 앞에서 보여드린 소거 결론을 저희 스스로도 못 믿습니다.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이번 주에 나온 발견입니다. 유쾌하진 않지만 그래서 더 공유드려야 합니다.</a:t>
            </a:r>
          </a:p>
          <a:p/>
          <a:p>
            <a:r>
              <a:rPr sz="1100">
                <a:latin typeface="맑은 고딕"/>
              </a:rPr>
              <a:t>저희 DOE는 4축이라고 알고 있었습니다. 형상 둘, 위상 진각, 그리고 피크 전류.</a:t>
            </a:r>
          </a:p>
          <a:p>
            <a:r>
              <a:rPr sz="1100">
                <a:latin typeface="맑은 고딕"/>
              </a:rPr>
              <a:t>그런데 export된 전류밀도를 감사해보니 도체 암페어-턴이 전 케이스에서 325로 상수였습니다.</a:t>
            </a:r>
          </a:p>
          <a:p>
            <a:r>
              <a:rPr sz="1100">
                <a:latin typeface="맑은 고딕"/>
              </a:rPr>
              <a:t>피크 전류가 18A인 케이스나 646A인 케이스나 여자가 같습니다. 35배 차이나는데 0.03% 안에서 동일합니다.</a:t>
            </a:r>
          </a:p>
          <a:p/>
          <a:p>
            <a:r>
              <a:rPr sz="1100">
                <a:latin typeface="맑은 고딕"/>
              </a:rPr>
              <a:t>원인은 확정했습니다. 파일이 전부 RMS 전류 모드였고, 그 모드에서 PeakCurrent는</a:t>
            </a:r>
          </a:p>
          <a:p>
            <a:r>
              <a:rPr sz="1100">
                <a:latin typeface="맑은 고딕"/>
              </a:rPr>
              <a:t>솔브 입력이 아니라 화면 표시용 파생값입니다. DOE가 표시값만 열심히 바꾸고 있었던 거죠.</a:t>
            </a:r>
          </a:p>
          <a:p/>
          <a:p>
            <a:r>
              <a:rPr sz="1100">
                <a:latin typeface="맑은 고딕"/>
              </a:rPr>
              <a:t>문서만 보고 판단하지 않고 원본 사본으로 인과 솔브를 두 번 돌렸습니다.</a:t>
            </a:r>
          </a:p>
          <a:p>
            <a:r>
              <a:rPr sz="1100">
                <a:latin typeface="맑은 고딕"/>
              </a:rPr>
              <a:t>PeakCurrent를 바꾸면 토크가 소수 넷째 자리까지 안 움직이고,</a:t>
            </a:r>
          </a:p>
          <a:p>
            <a:r>
              <a:rPr sz="1100">
                <a:latin typeface="맑은 고딕"/>
              </a:rPr>
              <a:t>RMSCurrent를 바꾸면 43% 떨어집니다. 확정입니다.</a:t>
            </a:r>
          </a:p>
          <a:p/>
          <a:p>
            <a:r>
              <a:rPr sz="1100">
                <a:latin typeface="맑은 고딕"/>
              </a:rPr>
              <a:t>함의는 나눠서 봐야 합니다.</a:t>
            </a:r>
          </a:p>
          <a:p>
            <a:r>
              <a:rPr sz="1100">
                <a:latin typeface="맑은 고딕"/>
              </a:rPr>
              <a:t>나쁜 소식은 학습 데이터에 포화 다양성이 없다는 겁니다. 전부 같은 여자에서 풀렸습니다.</a:t>
            </a:r>
          </a:p>
          <a:p>
            <a:r>
              <a:rPr sz="1100">
                <a:latin typeface="맑은 고딕"/>
              </a:rPr>
              <a:t>그래서 배포할 때 전류 의존성을 기대하면 안 됩니다. 모델이 본 적이 없으니까요.</a:t>
            </a:r>
          </a:p>
          <a:p>
            <a:r>
              <a:rPr sz="1100">
                <a:latin typeface="맑은 고딕"/>
              </a:rPr>
              <a:t>좋은 소식은 형상 축은 제대로 전달됐다는 겁니다. 오늘 보여드린 스케일링 결론은 안 흔들립니다.</a:t>
            </a:r>
          </a:p>
          <a:p/>
          <a:p>
            <a:r>
              <a:rPr sz="1100">
                <a:latin typeface="맑은 고딕"/>
              </a:rPr>
              <a:t>대응은 두 가지입니다. 전류 입력 모드를 고치고,</a:t>
            </a:r>
          </a:p>
          <a:p>
            <a:r>
              <a:rPr sz="1100">
                <a:latin typeface="맑은 고딕"/>
              </a:rPr>
              <a:t>"바꾼 변수가 실제로 필드에 도달했는지"를 자동 검사하는 검문을 데이터 생성 절차에</a:t>
            </a:r>
          </a:p>
          <a:p>
            <a:r>
              <a:rPr sz="1100">
                <a:latin typeface="맑은 고딕"/>
              </a:rPr>
              <a:t>상설화합니다. 이번에 이걸 잡은 감사 절차 자체가 재사용 가능한 자산입니다.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그래서 어떻게 개선하고 있느냐. 두 갈래입니다.</a:t>
            </a:r>
          </a:p>
          <a:p/>
          <a:p>
            <a:r>
              <a:rPr sz="1100">
                <a:latin typeface="맑은 고딕"/>
              </a:rPr>
              <a:t>첫 번째는 끝난 겁니다. 물리 힌트 입력.</a:t>
            </a:r>
          </a:p>
          <a:p>
            <a:r>
              <a:rPr sz="1100">
                <a:latin typeface="맑은 고딕"/>
              </a:rPr>
              <a:t>논리는 단순합니다 — 오차를 움직인 유일한 레버가 데이터, 즉 정보였습니다.</a:t>
            </a:r>
          </a:p>
          <a:p>
            <a:r>
              <a:rPr sz="1100">
                <a:latin typeface="맑은 고딕"/>
              </a:rPr>
              <a:t>그러면 정보를 직접 넣어주면 되지 않나. 간이 선형 자기해석을 절점마다 미리 계산해서</a:t>
            </a:r>
          </a:p>
          <a:p>
            <a:r>
              <a:rPr sz="1100">
                <a:latin typeface="맑은 고딕"/>
              </a:rPr>
              <a:t>입력에 넣고, AI가 장 전체가 아니라 "간이해와 실제의 차이"만 배우게 했습니다.</a:t>
            </a:r>
          </a:p>
          <a:p/>
          <a:p>
            <a:r>
              <a:rPr sz="1100">
                <a:latin typeface="맑은 고딕"/>
              </a:rPr>
              <a:t>같은 물리를 채점 기준에 넣어보기도 했고 학습 후 보정으로 넣어보기도 했는데</a:t>
            </a:r>
          </a:p>
          <a:p>
            <a:r>
              <a:rPr sz="1100">
                <a:latin typeface="맑은 고딕"/>
              </a:rPr>
              <a:t>둘 다 오차는 안 움직였습니다. 입력에 넣는 것만 안 해본 방법이었습니다.</a:t>
            </a:r>
          </a:p>
          <a:p/>
          <a:p>
            <a:r>
              <a:rPr sz="1100">
                <a:latin typeface="맑은 고딕"/>
              </a:rPr>
              <a:t>결과가 카드에 있습니다. 토크가 2.05%p 개선됐고 전체 오차도 0.54%p 내려갔습니다.</a:t>
            </a:r>
          </a:p>
          <a:p>
            <a:r>
              <a:rPr sz="1100">
                <a:latin typeface="맑은 고딕"/>
              </a:rPr>
              <a:t>공극은 0.16%p 개선에 그쳐, 미리 정한 1차 기준(7.05% 미만)을 못 넘었습니다.</a:t>
            </a:r>
          </a:p>
          <a:p>
            <a:r>
              <a:rPr sz="1100">
                <a:latin typeface="맑은 고딕"/>
              </a:rPr>
              <a:t>그래서 힌트를 계속 쓸지를 따로 판단해야 했는데, 유지하기로 결정했습니다.</a:t>
            </a:r>
          </a:p>
          <a:p>
            <a:r>
              <a:rPr sz="1100">
                <a:latin typeface="맑은 고딕"/>
              </a:rPr>
              <a:t>이유는 토크가 합격 기준의 실패 항목이었고, 그걸 움직인 레버가 이것뿐이기 때문입니다.</a:t>
            </a:r>
          </a:p>
          <a:p>
            <a:r>
              <a:rPr sz="1100">
                <a:latin typeface="맑은 고딕"/>
              </a:rPr>
              <a:t>데이터 늘리기는 토크를 두 배당 0.08%p밖에 못 움직입니다.</a:t>
            </a:r>
          </a:p>
          <a:p/>
          <a:p>
            <a:r>
              <a:rPr sz="1100">
                <a:latin typeface="맑은 고딕"/>
              </a:rPr>
              <a:t>두 번째가 지금 돌고 있는 겁니다. 전류축 복구입니다.</a:t>
            </a:r>
          </a:p>
          <a:p>
            <a:r>
              <a:rPr sz="1100">
                <a:latin typeface="맑은 고딕"/>
              </a:rPr>
              <a:t>앞에서 말씀드린 배선 문제를 고치고, 형상에 전류를 곱한 320케이스로 재학습 중입니다.</a:t>
            </a:r>
          </a:p>
          <a:p>
            <a:r>
              <a:rPr sz="1100">
                <a:latin typeface="맑은 고딕"/>
              </a:rPr>
              <a:t>전류가 실제로 솔브에 반영되는 첫 데이터셋입니다.</a:t>
            </a:r>
          </a:p>
          <a:p>
            <a:r>
              <a:rPr sz="1100">
                <a:latin typeface="맑은 고딕"/>
              </a:rPr>
              <a:t>【발표 시점에 진행 상황이나 결과를 갱신하십시오.】</a:t>
            </a:r>
          </a:p>
          <a:p/>
          <a:p>
            <a:r>
              <a:rPr sz="1100">
                <a:latin typeface="맑은 고딕"/>
              </a:rPr>
              <a:t>부가 자산도 하나 언급드리면, warm-start PoC를 만들다가 numpy와 scipy만으로 도는</a:t>
            </a:r>
          </a:p>
          <a:p>
            <a:r>
              <a:rPr sz="1100">
                <a:latin typeface="맑은 고딕"/>
              </a:rPr>
              <a:t>참조 FEM 솔버를 확보했습니다. Motor-CAD 토크를 0.2% 이내로 재현합니다.</a:t>
            </a:r>
          </a:p>
          <a:p>
            <a:r>
              <a:rPr sz="1100">
                <a:latin typeface="맑은 고딕"/>
              </a:rPr>
              <a:t>상용 라이선스 없이 정답을 만들 수 있다는 뜻이라, 데이터를 우리 손으로 생성할 때 엔진이 됩니다.</a:t>
            </a:r>
          </a:p>
          <a:p/>
          <a:p>
            <a:r>
              <a:rPr sz="1100">
                <a:latin typeface="맑은 고딕"/>
              </a:rPr>
              <a:t>병행해서 논문화도 진행 중입니다. 음성 결과와 게이트를 다시 정의한 것 자체가</a:t>
            </a:r>
          </a:p>
          <a:p>
            <a:r>
              <a:rPr sz="1100">
                <a:latin typeface="맑은 고딕"/>
              </a:rPr>
              <a:t>방법론 기여로 들어갑니다.</a:t>
            </a:r>
          </a:p>
          <a:p/>
          <a:p>
            <a:r>
              <a:rPr sz="1100">
                <a:latin typeface="맑은 고딕"/>
              </a:rPr>
              <a:t>여기까지입니다.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여기까지가 본편입니다. 이하는 질문이 나올 때만 띄우는 백업 슬라이드이고, 맨 뒤 두 장은 오늘 나온 용어를 정리한 용어집입니다.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AI 예측을 Newton 반복의 초기값으로 쓰면 FEM의 보장을 유지하면서 속도를 벌 수 있지 않나 —</a:t>
            </a:r>
          </a:p>
          <a:p>
            <a:r>
              <a:rPr sz="1100">
                <a:latin typeface="맑은 고딕"/>
              </a:rPr>
              <a:t>모터 AI 스타트업 Monumo가 제시한 방향이고, 저희는 숙제로 남기지 않고 만들어서 쟀습니다.</a:t>
            </a:r>
          </a:p>
          <a:p>
            <a:r>
              <a:rPr sz="1100">
                <a:latin typeface="맑은 고딕"/>
              </a:rPr>
              <a:t>평가 형상 2개 × 45자세 = 90번 솔브입니다.</a:t>
            </a:r>
          </a:p>
          <a:p/>
          <a:p>
            <a:r>
              <a:rPr sz="1100">
                <a:latin typeface="맑은 고딕"/>
              </a:rPr>
              <a:t>결과는 "효과 없음"입니다. 0에서 시작하면 17.5회인데 AI 초기값은 14.8회로 15% 줄었습니다.</a:t>
            </a:r>
          </a:p>
          <a:p>
            <a:r>
              <a:rPr sz="1100">
                <a:latin typeface="맑은 고딕"/>
              </a:rPr>
              <a:t>그런데 실무에서는 아무도 0에서 시작하지 않습니다. 직전 자세의 해를 이월하는데 그게 9.27회입니다.</a:t>
            </a:r>
          </a:p>
          <a:p>
            <a:r>
              <a:rPr sz="1100">
                <a:latin typeface="맑은 고딕"/>
              </a:rPr>
              <a:t>AI가 60% 더 느립니다.</a:t>
            </a:r>
          </a:p>
          <a:p/>
          <a:p>
            <a:r>
              <a:rPr sz="1100">
                <a:latin typeface="맑은 고딕"/>
              </a:rPr>
              <a:t>왜 졌는지도 알아냈습니다. 이 실험 당시 모델의 필드 오차가 18.7%인데,</a:t>
            </a:r>
          </a:p>
          <a:p>
            <a:r>
              <a:rPr sz="1100">
                <a:latin typeface="맑은 고딕"/>
              </a:rPr>
              <a:t>2도 회전한 이웃 자세의 수렴해는 그보다 훨씬 정확합니다.</a:t>
            </a:r>
          </a:p>
          <a:p>
            <a:r>
              <a:rPr sz="1100">
                <a:latin typeface="맑은 고딕"/>
              </a:rPr>
              <a:t>서로게이트가 이기려면 "2도 회전만큼"보다 정확해야 하는데 근처도 못 갑니다.</a:t>
            </a:r>
          </a:p>
          <a:p>
            <a:r>
              <a:rPr sz="1100">
                <a:latin typeface="맑은 고딕"/>
              </a:rPr>
              <a:t>아이디어의 반증이 아니라 현재 정확도의 결과입니다. 정확도가 올라가면 다시 볼 만합니다.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영역별로 쪼갠 성적표입니다. 오른쪽이 도달 가능 바닥입니다.</a:t>
            </a:r>
          </a:p>
          <a:p/>
          <a:p>
            <a:r>
              <a:rPr sz="1100">
                <a:latin typeface="맑은 고딕"/>
              </a:rPr>
              <a:t>전체 평균 11.6%라는 숫자는 사실 오해를 부릅니다.</a:t>
            </a:r>
          </a:p>
          <a:p>
            <a:r>
              <a:rPr sz="1100">
                <a:latin typeface="맑은 고딕"/>
              </a:rPr>
              <a:t>권선이나 회전자 공기층처럼 장이 거의 0이라, 나누는 분모가 작아져 %가 튀는 영역이</a:t>
            </a:r>
          </a:p>
          <a:p>
            <a:r>
              <a:rPr sz="1100">
                <a:latin typeface="맑은 고딕"/>
              </a:rPr>
              <a:t>섞여 있습니다. 그래서 저희는 전체 평균보다 공극과 토크를 주 지표로 봅니다.</a:t>
            </a:r>
          </a:p>
          <a:p/>
          <a:p>
            <a:r>
              <a:rPr sz="1100">
                <a:latin typeface="맑은 고딕"/>
              </a:rPr>
              <a:t>토크 5.400%는 case_32를 빼면 3.938%입니다.</a:t>
            </a:r>
          </a:p>
          <a:p>
            <a:r>
              <a:rPr sz="1100">
                <a:latin typeface="맑은 고딕"/>
              </a:rPr>
              <a:t>case_32는 FEM 평균 토크가 −5 N·m/m로 거의 0이라 분모가 작습니다.</a:t>
            </a:r>
          </a:p>
          <a:p>
            <a:r>
              <a:rPr sz="1100">
                <a:latin typeface="맑은 고딕"/>
              </a:rPr>
              <a:t>체리피킹으로 보이지 않게 항상 두 숫자를 같이 보고합니다.</a:t>
            </a:r>
          </a:p>
          <a:p/>
          <a:p>
            <a:r>
              <a:rPr sz="1100">
                <a:latin typeface="맑은 고딕"/>
              </a:rPr>
              <a:t>마지막 줄이 주장 범위입니다. 단일 토폴로지, 형상 두 비율, 2D 자기정적입니다.</a:t>
            </a:r>
          </a:p>
          <a:p>
            <a:r>
              <a:rPr sz="1100">
                <a:latin typeface="맑은 고딕"/>
              </a:rPr>
              <a:t>토폴로지 간 일반화를 주장하지 않습니다.</a:t>
            </a:r>
          </a:p>
          <a:p>
            <a:r>
              <a:rPr sz="1100">
                <a:latin typeface="맑은 고딕"/>
              </a:rPr>
              <a:t>데이터-오차 곡선도 3점뿐이라 기울기는 정해지지만 곡선의 정확한 모양은 안 정해집니다.</a:t>
            </a:r>
          </a:p>
          <a:p>
            <a:r>
              <a:rPr sz="1100">
                <a:latin typeface="맑은 고딕"/>
              </a:rPr>
              <a:t>그래서 "3만 4천 형상 필요" 같은 숫자는 예측이 아니라 자릿수 수준의 비현실성 논증으로만 읽어야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발표 중 낯선 용어가 나오면 이 페이지로 돌아와서 짚고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맑은 고딕"/>
              </a:rPr>
              <a:t>발표 중 낯선 용어가 나오면 이 페이지로 돌아와서 짚고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B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맑은 고딕"/>
              </a:rPr>
              <a:t>motorAI — Motor-CAD 해석을 대신하는 AI 모델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0F7B6C"/>
                </a:solidFill>
                <a:latin typeface="맑은 고딕"/>
              </a:rPr>
              <a:t>지금 어디까지 왔고, 무엇을 고쳐 나가고 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맑은 고딕"/>
              </a:rPr>
              <a:t>현재 성적:  공극 자속밀도 오차 6.62%  ·  토크 오차 3.27%   (학습에 쓰지 않은 시험용 형상 6개 기준)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5A5A5A"/>
                </a:solidFill>
                <a:latin typeface="맑은 고딕"/>
              </a:rPr>
              <a:t>전류를 바꿔도 통한다:  미학습 형상×전류 12케이스에서 공극 5.35% · 토크 2.61% (§29)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5A5A5A"/>
                </a:solidFill>
                <a:latin typeface="맑은 고딕"/>
              </a:rPr>
              <a:t>합격 기준(공극 5% · 토크 3%)까지 — 공극 1.62%p, 토크 0.27%p 남았다   ·   낯선 용어는 맨 뒤 용어집 참조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5A5A"/>
                </a:solidFill>
                <a:latin typeface="맑은 고딕"/>
              </a:rPr>
              <a:t>사내 세미나 · 2026-08-07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66928" y="384048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한 장 요약 — 상황과 개선 방향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645920"/>
            <a:ext cx="3566160" cy="3429000"/>
          </a:xfrm>
          <a:prstGeom prst="rect">
            <a:avLst/>
          </a:prstGeom>
          <a:solidFill>
            <a:srgbClr val="FAFAFA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ctr"/>
            <a:r>
              <a:rPr sz="1700" b="1" i="0">
                <a:solidFill>
                  <a:srgbClr val="0F7B6C"/>
                </a:solidFill>
                <a:latin typeface="맑은 고딕"/>
              </a:rPr>
              <a:t>지금 위치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공극 오차  6.62%   (합격선 5%)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토크 오차  3.27%   (합격선 3%)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미학습 형상×전류에서도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공극 5.35% · 토크 2.61%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여러 설계 중 좋은 것 고르기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(순위 매기기)는 지금도 된다.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"토크가 정확히 몇 N·m"로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쓰기에는 아직 부족하다.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1688" y="1645920"/>
            <a:ext cx="3566160" cy="3429000"/>
          </a:xfrm>
          <a:prstGeom prst="rect">
            <a:avLst/>
          </a:prstGeom>
          <a:solidFill>
            <a:srgbClr val="FAFAFA"/>
          </a:solidFill>
          <a:ln>
            <a:solidFill>
              <a:srgbClr val="C44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ctr"/>
            <a:r>
              <a:rPr sz="1700" b="1" i="0">
                <a:solidFill>
                  <a:srgbClr val="C44E52"/>
                </a:solidFill>
                <a:latin typeface="맑은 고딕"/>
              </a:rPr>
              <a:t>왜 안 내려가나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AI 모델 쪽 개선책은 다 써봤다.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크기·학습 방법·구조·출력 방식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네 가지를 하나씩 바꿔 실험 —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오차 12.7%가 꿈쩍 안 했다.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효과가 있던 건 데이터 늘리기와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물리 힌트 두 가지뿐. 데이터만으로는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합격선까지 60일 넘게 걸린다.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56448" y="1645920"/>
            <a:ext cx="3566160" cy="3429000"/>
          </a:xfrm>
          <a:prstGeom prst="rect">
            <a:avLst/>
          </a:prstGeom>
          <a:solidFill>
            <a:srgbClr val="FAFAFA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ctr"/>
            <a:r>
              <a:rPr sz="1700" b="1" i="0">
                <a:solidFill>
                  <a:srgbClr val="0F7B6C"/>
                </a:solidFill>
                <a:latin typeface="맑은 고딕"/>
              </a:rPr>
              <a:t>그래서 한 일과 결과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① 간이 자기해석을 힌트로 입력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   토크 오차 5.40 → 3.35%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   (미리 정한 1차 기준인 공극은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    통과 못 함 — 0.09%p 차이)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② 형상×전류 320케이스 학습 완료: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   전류 일반화 성립 + 공극 7.14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   → 6.62%, 원래 과제 후퇴 없음 (§29)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③ 다음: 480케이스 확장 생성 중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349240"/>
            <a:ext cx="11064240" cy="868680"/>
          </a:xfrm>
          <a:prstGeom prst="rect">
            <a:avLst/>
          </a:prstGeom>
          <a:solidFill>
            <a:srgbClr val="F2F7F6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/>
            <a:r>
              <a:rPr sz="1700" b="1" i="0">
                <a:solidFill>
                  <a:srgbClr val="0F7B6C"/>
                </a:solidFill>
                <a:latin typeface="맑은 고딕"/>
              </a:rPr>
              <a:t>한 문장으로:  </a:t>
            </a:r>
            <a:r>
              <a:rPr sz="1700" b="1" i="0">
                <a:solidFill>
                  <a:srgbClr val="1A1A1A"/>
                </a:solidFill>
                <a:latin typeface="맑은 고딕"/>
              </a:rPr>
              <a:t>물리 힌트로 토크가, 전류축 데이터로 공극이 움직여 합격선 코앞까지 왔고 — 전류를 바꿔도 통하는 모델이 처음으로 생겼다.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배경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무엇을 만들고 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1737360"/>
            <a:ext cx="2606040" cy="2331720"/>
          </a:xfrm>
          <a:prstGeom prst="rect">
            <a:avLst/>
          </a:prstGeom>
          <a:solidFill>
            <a:srgbClr val="F7F9F9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ctr"/>
            <a:r>
              <a:rPr sz="1600" b="1" i="0">
                <a:solidFill>
                  <a:srgbClr val="0F7B6C"/>
                </a:solidFill>
                <a:latin typeface="맑은 고딕"/>
              </a:rPr>
              <a:t>① 데이터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Motor-CAD v261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48슬롯/8극 IPM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1/8 반주기 섹터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45자세 회전 스윕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1케이스 ≈ 160초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9584" y="1737360"/>
            <a:ext cx="2606040" cy="2331720"/>
          </a:xfrm>
          <a:prstGeom prst="rect">
            <a:avLst/>
          </a:prstGeom>
          <a:solidFill>
            <a:srgbClr val="F7F9F9"/>
          </a:solidFill>
          <a:ln>
            <a:solidFill>
              <a:srgbClr val="CC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ctr"/>
            <a:r>
              <a:rPr sz="1600" b="1" i="0">
                <a:solidFill>
                  <a:srgbClr val="0F7B6C"/>
                </a:solidFill>
                <a:latin typeface="맑은 고딕"/>
              </a:rPr>
              <a:t>② 그래프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메시를 그대로 입력: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점 = 메시 절점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선 = 요소 변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형상마다 메시가 달라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격자식 AI는 못 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737360"/>
            <a:ext cx="2606040" cy="2331720"/>
          </a:xfrm>
          <a:prstGeom prst="rect">
            <a:avLst/>
          </a:prstGeom>
          <a:solidFill>
            <a:srgbClr val="F7F9F9"/>
          </a:solidFill>
          <a:ln>
            <a:solidFill>
              <a:srgbClr val="CC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ctr"/>
            <a:r>
              <a:rPr sz="1600" b="1" i="0">
                <a:solidFill>
                  <a:srgbClr val="0F7B6C"/>
                </a:solidFill>
                <a:latin typeface="맑은 고딕"/>
              </a:rPr>
              <a:t>③ AI 모델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메시 그래프 신경망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각 절점이 이웃과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15회 정보를 주고받으며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자기 값을 갱신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출력 = 절점의 B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0576" y="1737360"/>
            <a:ext cx="2606040" cy="2331720"/>
          </a:xfrm>
          <a:prstGeom prst="rect">
            <a:avLst/>
          </a:prstGeom>
          <a:solidFill>
            <a:srgbClr val="F7F9F9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/>
          <a:lstStyle/>
          <a:p>
            <a:pPr algn="ctr"/>
            <a:r>
              <a:rPr sz="1600" b="1" i="0">
                <a:solidFill>
                  <a:srgbClr val="0F7B6C"/>
                </a:solidFill>
                <a:latin typeface="맑은 고딕"/>
              </a:rPr>
              <a:t>④ 채점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|B| 오차율(nRMSE)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Arkkio 공극 토크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영역별로 나눠 채점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시험 형상은 학습에서</a:t>
            </a:r>
          </a:p>
          <a:p>
            <a:pPr>
              <a:spcAft>
                <a:spcPts val="3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완전히 분리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976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맑은 고딕"/>
              </a:rPr>
              <a:t>▪ 설계 탐색(DOE)은 FEA 호출 수천~수만 회. 우리 DOE를 +120케이스 늘리는 데만 5~6시간이 들었다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맑은 고딕"/>
              </a:rPr>
              <a:t>▪ AI가 밀리초에 장을 내주면, 후보 걸러내기는 AI에 맡기고 상위 후보만 FEM으로 확인하면 된다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0F7B6C"/>
                </a:solidFill>
                <a:latin typeface="맑은 고딕"/>
              </a:rPr>
              <a:t>▪ 처음부터 지킨 원칙: 필드 오차에서 멈추지 않고 공극의 자기응력을 적분(Arkkio법)해 토크까지 채점한다 — 설계자가 실제로 보는 숫자로 판정하기 위해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상황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지금 성적 — 합격 기준까지 남은 거리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§25 §27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minar_fig6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477" y="1517904"/>
            <a:ext cx="6519142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864608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 i="0">
                <a:solidFill>
                  <a:srgbClr val="0F7B6C"/>
                </a:solidFill>
                <a:latin typeface="맑은 고딕"/>
              </a:rPr>
              <a:t>▪ 3세대 진행: 공극 7.30 → 7.14 → 6.62%, 토크 5.40 → 3.35 → 3.27% — 물리 힌트가 토크를, 전류축 데이터가 공극을 움직였다</a:t>
            </a:r>
          </a:p>
          <a:p>
            <a:pPr>
              <a:spcAft>
                <a:spcPts val="800"/>
              </a:spcAft>
            </a:pPr>
            <a:r>
              <a:rPr sz="1550" b="0" i="0">
                <a:solidFill>
                  <a:srgbClr val="1A1A1A"/>
                </a:solidFill>
                <a:latin typeface="맑은 고딕"/>
              </a:rPr>
              <a:t>▪ 정직 노트: 물리 힌트 실험의 사전 1차 기준(공극 7.05%)은 0.09%p 차로 미달이었고, 전류축 학습(320케이스)이 공극을 추가로 0.52%p 내리며 원래 과제도 후퇴하지 않았다 (§27, §29)</a:t>
            </a:r>
          </a:p>
          <a:p>
            <a:pPr>
              <a:spcAft>
                <a:spcPts val="800"/>
              </a:spcAft>
            </a:pPr>
            <a:r>
              <a:rPr sz="1550" b="0" i="0">
                <a:solidFill>
                  <a:srgbClr val="1A1A1A"/>
                </a:solidFill>
                <a:latin typeface="맑은 고딕"/>
              </a:rPr>
              <a:t>▪ 이 계산 방식이 낼 수 있는 최저 오차(한계선)는 공극 2.68%다. 현재 6.62%와는 3.9%p 차이 — 방식의 한계가 아니라 학습이 아직 못 따라간 것이므로 공략할 여지가 실제로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상황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예측 장이 실제로 어떻게 생겼나 — |B| 컨투어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case 4 / step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minar_contour_cas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701" y="1481328"/>
            <a:ext cx="8396694" cy="452628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66928" y="632764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5A5A"/>
                </a:solidFill>
                <a:latin typeface="맑은 고딕"/>
              </a:rPr>
              <a:t>행마다 FEM 참값 · AI 예측 · 차이(예측−FEM). 공극을 따라가는 흰 호는 오차가 아니라 회전 자세마다 다시 만들어지는 요소(슬라이딩 밴드)라 그리지 않은 것. 패널 제목의 %는 시험 형상 전체 집계값이지 이 한 장면의 오차가 아니다.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상황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같은 케이스를 한 바퀴 돌려보면 — 애니메이션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case 4 / 45자세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se0004_field_torque_smooth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064" y="1481328"/>
            <a:ext cx="7219968" cy="452628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66928" y="632764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5A5A"/>
                </a:solidFill>
                <a:latin typeface="맑은 고딕"/>
              </a:rPr>
              <a:t>슬라이드쇼 모드에서 자동 재생. 아래 토크 곡선의 매끈한 선은 45개 계산점을 수학적으로 복원한 실제 파형이고(§28), 점이 실제 계산 위치다. 리플 봉우리가 높낮이를 번갈아 12개 — 이 기계의 지배 리플은 12차(슬롯 고조파, 6차의 1.6~2.1배)다.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상황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토크 파형 — 계산기 검증과 AI 성능을 한 장에서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§8c §22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minar_torque_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481328"/>
            <a:ext cx="6857999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F7B6C"/>
                </a:solidFill>
                <a:latin typeface="맑은 고딕"/>
              </a:rPr>
              <a:t>세 곡선이 말하는 것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· 파랑 = Motor-CAD가 직접 계산한 토크 (기준)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0F7B6C"/>
                </a:solidFill>
                <a:latin typeface="맑은 고딕"/>
              </a:rPr>
              <a:t>· 초록 = FEM이 푼 장에 우리 토크 계산기(Arkkio 적분)를 적용. 기준과 겹쳐서 구분이 안 된다 — 평균 차이 0.35%, 토크 계산기 자체가 맞다는 검증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· 빨강 = AI가 예측한 장에 같은 계산기를 적용. 기준과의 간격이 곧 AI의 오차다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C44E52"/>
                </a:solidFill>
                <a:latin typeface="맑은 고딕"/>
              </a:rPr>
              <a:t>· 평균과 리플의 큰 흐름은 따라가지만 일부 구간에서 눈에 띄게 벗어난다 — 아래 오차 패널이 그 구간을 보여준다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5A5A5A"/>
                </a:solidFill>
                <a:latin typeface="맑은 고딕"/>
              </a:rPr>
              <a:t>· 시험 형상 전체로 집계한 토크 오차율은 3.354% (§27)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진단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AI 모델 쪽 개선책은 다 써봤다 — 하나씩 바꾼 실험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§13 §15-21b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minar_fig1_eli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679" y="1481328"/>
            <a:ext cx="7246738" cy="47091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66928" y="632764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5A5A"/>
                </a:solidFill>
                <a:latin typeface="맑은 고딕"/>
              </a:rPr>
              <a:t>각 막대는 직전 구성에서 딱 한 가지만 바꾼 결과 — 시험 문제도 채점 방식도 동일. 데이터 늘리기(청록)만 오차를 낮췄다.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진단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데이터 늘리기는 통한다 — 그러나 너무 느리다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§20 §21b §21c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minar_fig2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24" y="1463040"/>
            <a:ext cx="7739808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6916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F7B6C"/>
                </a:solidFill>
                <a:latin typeface="맑은 고딕"/>
              </a:rPr>
              <a:t>읽는 법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0F7B6C"/>
                </a:solidFill>
                <a:latin typeface="맑은 고딕"/>
              </a:rPr>
              <a:t>· 학습 형상 40 → 120 → 240에서 오차 12.75 → 11.96 → 11.64%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1A1A1A"/>
                </a:solidFill>
                <a:latin typeface="맑은 고딕"/>
              </a:rPr>
              <a:t>· 시험 형상 6개 전부, 매 단계 개선 — 한 케이스가 평균을 끄는 게 아니다</a:t>
            </a:r>
          </a:p>
          <a:p>
            <a:pPr>
              <a:spcAft>
                <a:spcPts val="1000"/>
              </a:spcAft>
            </a:pPr>
            <a:r>
              <a:rPr sz="1350" b="0" i="0">
                <a:solidFill>
                  <a:srgbClr val="5A5A5A"/>
                </a:solidFill>
                <a:latin typeface="맑은 고딕"/>
              </a:rPr>
              <a:t>· 속 빈 점: 같은 데이터를 학습 횟수 절반으로 돌린 결과. '한계에 닿았다'고 잘못 읽을 뻔한 지점 → 학습을 충분히 시키니 회복됐다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C44E52"/>
                </a:solidFill>
                <a:latin typeface="맑은 고딕"/>
              </a:rPr>
              <a:t>· 합격 기준 항목인 공극 오차는 데이터 두 배당 0.32%p씩 줄어든다(§25). 이 속도로 공극 5%까지 가려면 형상 약 3.4만 개 = Motor-CAD 62일 연속 계산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C44E52"/>
                </a:solidFill>
                <a:latin typeface="맑은 고딕"/>
              </a:rPr>
              <a:t>· → 데이터 늘리기는 유효하지만, 현실적 비용 안에서는 합격선에 못 닿는다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근거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이 숫자를 믿을 수 있는 이유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§7-9 §22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3566160" cy="4069080"/>
          </a:xfrm>
          <a:prstGeom prst="rect">
            <a:avLst/>
          </a:prstGeom>
          <a:solidFill>
            <a:srgbClr val="FAFAFA"/>
          </a:solidFill>
          <a:ln>
            <a:solidFill>
              <a:srgbClr val="CC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ctr"/>
            <a:r>
              <a:rPr sz="1550" b="1" i="0">
                <a:solidFill>
                  <a:srgbClr val="0F7B6C"/>
                </a:solidFill>
                <a:latin typeface="맑은 고딕"/>
              </a:rPr>
              <a:t>'컨닝'을 세 번 잡아냈다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시험 답이 학습에 새어 들어가면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성적이 가짜로 좋아진다(누수).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예: time_s라는 입력이 회전자각과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완전히 같은 정보(상관 1.0000)였는데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AI가 이걸 주 단서로 삼았다.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이 값 하나만 바꾸니 토크 예측이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−264 → +48로 부호까지 뒤집혔다.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제거하고 시험 문제를 형상 단위로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분리하자 모델들의 순위가 다 바뀌었다.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1688" y="1645920"/>
            <a:ext cx="3566160" cy="4069080"/>
          </a:xfrm>
          <a:prstGeom prst="rect">
            <a:avLst/>
          </a:prstGeom>
          <a:solidFill>
            <a:srgbClr val="FAFAFA"/>
          </a:solidFill>
          <a:ln>
            <a:solidFill>
              <a:srgbClr val="CC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ctr"/>
            <a:r>
              <a:rPr sz="1550" b="1" i="0">
                <a:solidFill>
                  <a:srgbClr val="0F7B6C"/>
                </a:solidFill>
                <a:latin typeface="맑은 고딕"/>
              </a:rPr>
              <a:t>방식의 한계선을 먼저 쟀다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FEM 참값을 우리 계산 방식으로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옮겨 적기만 해도 남는 오차 =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어떤 학습으로도 못 넘는 한계선.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절점 평균 방식  |B| 16.98%  토크 59.5%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curl 방식      |B| 5.31%  토크 1.58%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방식만 바꿔도 토크 한계가 37배 갈린다.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AI를 탓하기 전에 이것부터 잰다.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6448" y="1645920"/>
            <a:ext cx="3566160" cy="4069080"/>
          </a:xfrm>
          <a:prstGeom prst="rect">
            <a:avLst/>
          </a:prstGeom>
          <a:solidFill>
            <a:srgbClr val="FAFAFA"/>
          </a:solidFill>
          <a:ln>
            <a:solidFill>
              <a:srgbClr val="CCD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64592"/>
          <a:lstStyle/>
          <a:p>
            <a:pPr algn="ctr"/>
            <a:r>
              <a:rPr sz="1550" b="1" i="0">
                <a:solidFill>
                  <a:srgbClr val="0F7B6C"/>
                </a:solidFill>
                <a:latin typeface="맑은 고딕"/>
              </a:rPr>
              <a:t>토크 계산기를 검증했다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우리 Arkkio 적분 vs Motor-CAD의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자체 계산, 한 주기 전체 대조: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평균 토크 차이      0.35%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자세별 차이(RMS)   0.54%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파형 상관계수      0.9955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재현성: 같은 채점을 3회 반복해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A1A1A"/>
                </a:solidFill>
                <a:latin typeface="맑은 고딕"/>
              </a:rPr>
              <a:t>바이트까지 동일한 결과 확인.</a:t>
            </a:r>
          </a:p>
        </p:txBody>
      </p:sp>
      <p:sp>
        <p:nvSpPr>
          <p:cNvPr id="9" name="caption"/>
          <p:cNvSpPr txBox="1"/>
          <p:nvPr/>
        </p:nvSpPr>
        <p:spPr>
          <a:xfrm>
            <a:off x="566928" y="5897880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5A5A"/>
                </a:solidFill>
                <a:latin typeface="맑은 고딕"/>
              </a:rPr>
              <a:t>평가 체계를 먼저 세운 것이 이 캠페인의 차별점이다 — 이게 없었다면 위의 소거 결론 자체를 신뢰할 수 없다.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개선 항목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최근 발견 — DOE 전류축이 솔브에 전달되지 않았다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§24 §26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5623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44E52"/>
                </a:solidFill>
                <a:latin typeface="맑은 고딕"/>
              </a:rPr>
              <a:t>발견 — export된 전류밀도 감사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onsolas"/>
              </a:rPr>
              <a:t>case  6   Ipk  18.18 A   →  A-turns 325.24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onsolas"/>
              </a:rPr>
              <a:t>case  4   Ipk 224.05 A   →  A-turns 325.27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onsolas"/>
              </a:rPr>
              <a:t>case 17   Ipk 646.33 A   →  A-turns 325.19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맑은 고딕"/>
              </a:rPr>
              <a:t>Ipk가 35배 변하는 동안 여자는 0.03% 안에서 동일하다.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572768"/>
            <a:ext cx="5349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0F7B6C"/>
                </a:solidFill>
                <a:latin typeface="맑은 고딕"/>
              </a:rPr>
              <a:t>루트 코즈 — 인과 솔브 2회로 확정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</a:rPr>
              <a:t>· 전 케이스가 RMS 전류 모드로 설정돼 있었다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</a:rPr>
              <a:t>· 그 모드에서 PeakCurrent는 솔브 입력이 아니라 파생 표시량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</a:rPr>
              <a:t>· PeakCurrent 224→100 : 토크 무반응 (소수 4자리까지)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맑은 고딕"/>
              </a:rPr>
              <a:t>· RMSCurrent 460→230 : 토크 −43% ← 이게 진짜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41648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A1A1A"/>
                </a:solidFill>
                <a:latin typeface="맑은 고딕"/>
              </a:rPr>
              <a:t>함의와 대응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44E52"/>
                </a:solidFill>
                <a:latin typeface="맑은 고딕"/>
              </a:rPr>
              <a:t>· 전 케이스가 같은 여자 수준에서 풀렸다 → 학습 데이터에 포화 다양성이 0이다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44E52"/>
                </a:solidFill>
                <a:latin typeface="맑은 고딕"/>
              </a:rPr>
              <a:t>· 배포 시 '전류를 바꾸면 예측이 따라온다'는 기대는 틀린다 — 모델은 전류 의존성을 본 적이 없다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F7B6C"/>
                </a:solidFill>
                <a:latin typeface="맑은 고딕"/>
              </a:rPr>
              <a:t>· 형상 스케일링 결론은 불변 — 그 축은 실제로 전달됐다. 오늘 보여드린 곡선은 그대로 선다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F7B6C"/>
                </a:solidFill>
                <a:latin typeface="맑은 고딕"/>
              </a:rPr>
              <a:t>· 대응: 전류 입력 모드 수정 + '바꾼 변수가 실제로 필드에 도달했는가'를 검사하는 자동 검문을 데이터 생성 절차에 상설화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다음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개선 경로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5440680" cy="3977639"/>
          </a:xfrm>
          <a:prstGeom prst="rect">
            <a:avLst/>
          </a:prstGeom>
          <a:solidFill>
            <a:srgbClr val="FAFAFA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ctr"/>
            <a:r>
              <a:rPr sz="1600" b="1" i="0">
                <a:solidFill>
                  <a:srgbClr val="0F7B6C"/>
                </a:solidFill>
                <a:latin typeface="맑은 고딕"/>
              </a:rPr>
              <a:t>① 물리 힌트 입력 — 완료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간이 선형 자기해석을 절점마다 미리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계산해 AI 입력에 넣는다. AI는 장 전체가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아니라 '간이해와 실제의 차이'만 배운다.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왜 이 방법인가: 오차를 움직인 유일한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레버가 '정보'였다. 같은 물리를 채점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기준이나 후처리에 넣는 건 이미 해봤고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효과가 없었다 — 입력에 넣는 것만 남았었다.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결과: 토크 5.40 → 3.35% (−2.05%p)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         전체 오차 11.64 → 11.10%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         공극 7.30 → 7.14% (1차 기준 미달)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→ 힌트를 계속 쓰기로 결정 (§27)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6208" y="1627632"/>
            <a:ext cx="5440680" cy="3977639"/>
          </a:xfrm>
          <a:prstGeom prst="rect">
            <a:avLst/>
          </a:prstGeom>
          <a:solidFill>
            <a:srgbClr val="FAFAFA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ctr"/>
            <a:r>
              <a:rPr sz="1600" b="1" i="0">
                <a:solidFill>
                  <a:srgbClr val="0F7B6C"/>
                </a:solidFill>
                <a:latin typeface="맑은 고딕"/>
              </a:rPr>
              <a:t>② 전류축 복구 후 확장 — 1단계 완료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여자 설정을 고치고(전류 입력 모드 수정 +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암페어턴 자동 검사) 형상×전류 320케이스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학습 완료. 미학습 형상×전류 12케이스에서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공극 5.35% · 토크 2.61% —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전류를 바꿔도 통하고, 원래 과제도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후퇴하지 않았다 (§29).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지금: 480케이스 확장 생성 중(+120 형상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+ 전류 팩토리얼 + 보간 프로브, §30)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/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부가 자산: 상용 라이선스 없이 도는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자체 검증용 FEM 솔버(토크 0.06~0.18% 재현).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806440"/>
            <a:ext cx="11064240" cy="731520"/>
          </a:xfrm>
          <a:prstGeom prst="rect">
            <a:avLst/>
          </a:prstGeom>
          <a:solidFill>
            <a:srgbClr val="F2F7F6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/>
            <a:r>
              <a:rPr sz="1600" b="1" i="0">
                <a:solidFill>
                  <a:srgbClr val="0F7B6C"/>
                </a:solidFill>
                <a:latin typeface="맑은 고딕"/>
              </a:rPr>
              <a:t>병행:  </a:t>
            </a:r>
            <a:r>
              <a:rPr sz="1600" b="0" i="0">
                <a:solidFill>
                  <a:srgbClr val="1A1A1A"/>
                </a:solidFill>
                <a:latin typeface="맑은 고딕"/>
              </a:rPr>
              <a:t>논문화 (IEEE Trans. Energy Conversion / Magnetics) — 기여 7건·그림 5장 정리 완료. 음성 결과와 게이트 재정의 자체가 방법론 기여로 들어간다.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solidFill>
            <a:srgbClr val="F2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0F7B6C"/>
                </a:solidFill>
                <a:latin typeface="맑은 고딕"/>
              </a:rPr>
              <a:t>이하 백업 — 질문 대응용 · 맨 뒤에 용어집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Backup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백업 — AI로 FEM 수렴 가속 시도 (효과 없음)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§23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fem_warm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36266"/>
            <a:ext cx="7086600" cy="34255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82127" y="1554480"/>
            <a:ext cx="38862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C44E52"/>
                </a:solidFill>
                <a:latin typeface="맑은 고딕"/>
              </a:rPr>
              <a:t>결과: 효과 없음 (미리 정한 기준대로 판정)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· 0에서 시작하면 수렴까지 17.50회 → AI 초기값이면 14.82회 (−15%)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· 직전 회전 자세의 해를 이월하면 9.27회 — 실무 표준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· AI가 실무 표준보다 60% 느리다. 아직 안 산다.</a:t>
            </a:r>
          </a:p>
          <a:p>
            <a:pPr>
              <a:spcAft>
                <a:spcPts val="400"/>
              </a:spcAft>
            </a:pPr>
            <a:r>
              <a:rPr sz="1550" b="1" i="0">
                <a:solidFill>
                  <a:srgbClr val="0F7B6C"/>
                </a:solidFill>
                <a:latin typeface="맑은 고딕"/>
              </a:rPr>
              <a:t>왜 졌는지도 알아냈다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· 이 실험 당시 모델의 오차는 18.73%(§19) — 지금 모델(7.14%)의 이전 세대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· 2도 회전한 이웃 자세의 수렴해가 그보다 훨씬 정확하다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A1A1A"/>
                </a:solidFill>
                <a:latin typeface="맑은 고딕"/>
              </a:rPr>
              <a:t>· → 당시 정확도의 귀결이지 아이디어의 반증이 아니다</a:t>
            </a:r>
          </a:p>
          <a:p>
            <a:pPr>
              <a:spcAft>
                <a:spcPts val="400"/>
              </a:spcAft>
            </a:pPr>
            <a:r>
              <a:rPr sz="1550" b="1" i="0">
                <a:solidFill>
                  <a:srgbClr val="0F7B6C"/>
                </a:solidFill>
                <a:latin typeface="맑은 고딕"/>
              </a:rPr>
              <a:t>남은 자산이 더 크다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0F7B6C"/>
                </a:solidFill>
                <a:latin typeface="맑은 고딕"/>
              </a:rPr>
              <a:t>· numpy + scipy만으로 도는 참조 FEM 솔버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0F7B6C"/>
                </a:solidFill>
                <a:latin typeface="맑은 고딕"/>
              </a:rPr>
              <a:t>· 45자세 전 구간 Motor-CAD 토크를 0.06~0.18% 재현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0F7B6C"/>
                </a:solidFill>
                <a:latin typeface="맑은 고딕"/>
              </a:rPr>
              <a:t>· 상용 라이선스 없이 정답 재유도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Backup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백업 — 영역별 성적표와 재현성</a:t>
            </a:r>
          </a:p>
        </p:txBody>
      </p:sp>
      <p:sp>
        <p:nvSpPr>
          <p:cNvPr id="4" name="sec"/>
          <p:cNvSpPr txBox="1"/>
          <p:nvPr/>
        </p:nvSpPr>
        <p:spPr>
          <a:xfrm>
            <a:off x="10058400" y="3657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5A5A"/>
                </a:solidFill>
                <a:latin typeface="Consolas"/>
              </a:rPr>
              <a:t>§21b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0200"/>
          <a:ext cx="110642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2377440"/>
                <a:gridCol w="4206240"/>
              </a:tblGrid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anchor="ctr" marL="73152" marR="73152" marT="18288" marB="18288">
                    <a:solidFill>
                      <a:srgbClr val="0F7B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직전 최고 모델 오차</a:t>
                      </a:r>
                    </a:p>
                  </a:txBody>
                  <a:tcPr anchor="ctr" marL="73152" marR="73152" marT="18288" marB="18288">
                    <a:solidFill>
                      <a:srgbClr val="0F7B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방식의 한계선</a:t>
                      </a:r>
                    </a:p>
                  </a:txBody>
                  <a:tcPr anchor="ctr" marL="73152" marR="73152" marT="18288" marB="18288">
                    <a:solidFill>
                      <a:srgbClr val="0F7B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판독</a:t>
                      </a:r>
                    </a:p>
                  </a:txBody>
                  <a:tcPr anchor="ctr" marL="73152" marR="73152" marT="18288" marB="18288">
                    <a:solidFill>
                      <a:srgbClr val="0F7B6C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7B6C"/>
                          </a:solidFill>
                          <a:latin typeface="맑은 고딕"/>
                        </a:rPr>
                        <a:t>공극 (airgap)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7B6C"/>
                          </a:solidFill>
                          <a:latin typeface="맑은 고딕"/>
                        </a:rPr>
                        <a:t>7.30%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7B6C"/>
                          </a:solidFill>
                          <a:latin typeface="맑은 고딕"/>
                        </a:rPr>
                        <a:t>2.68%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7B6C"/>
                          </a:solidFill>
                          <a:latin typeface="맑은 고딕"/>
                        </a:rPr>
                        <a:t>토크가 계산되는 곳. 여유 4.6%p</a:t>
                      </a:r>
                    </a:p>
                  </a:txBody>
                  <a:tcPr anchor="ctr" marL="73152" marR="73152" marT="18288" marB="18288"/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회전자 철심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10.48%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5.35%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포화 영역, 개선 여지 있음</a:t>
                      </a:r>
                    </a:p>
                  </a:txBody>
                  <a:tcPr anchor="ctr" marL="73152" marR="73152" marT="18288" marB="18288"/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고정자 치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11.66%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4.94%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슬롯 고조파 지배</a:t>
                      </a:r>
                    </a:p>
                  </a:txBody>
                  <a:tcPr anchor="ctr" marL="73152" marR="73152" marT="18288" marB="18288"/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자석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12.83%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4.47%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데이터를 늘려도 거의 안 움직인 영역</a:t>
                      </a:r>
                    </a:p>
                  </a:txBody>
                  <a:tcPr anchor="ctr" marL="73152" marR="73152" marT="18288" marB="18288"/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전체 평균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11.638%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5.31%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맑은 고딕"/>
                        </a:rPr>
                        <a:t>장이 약해 %가 튀는 영역이 섞여 있음</a:t>
                      </a:r>
                    </a:p>
                  </a:txBody>
                  <a:tcPr anchor="ctr" marL="73152" marR="73152" marT="18288" marB="18288"/>
                </a:tc>
              </a:tr>
              <a:tr h="37229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7B6C"/>
                          </a:solidFill>
                          <a:latin typeface="맑은 고딕"/>
                        </a:rPr>
                        <a:t>토크 오차율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7B6C"/>
                          </a:solidFill>
                          <a:latin typeface="맑은 고딕"/>
                        </a:rPr>
                        <a:t>5.400%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7B6C"/>
                          </a:solidFill>
                          <a:latin typeface="맑은 고딕"/>
                        </a:rPr>
                        <a:t>1.58%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7B6C"/>
                          </a:solidFill>
                          <a:latin typeface="맑은 고딕"/>
                        </a:rPr>
                        <a:t>특이 케이스(case_32) 제외 시 3.938%</a:t>
                      </a:r>
                    </a:p>
                  </a:txBody>
                  <a:tcPr anchor="ctr" marL="73152" marR="73152" marT="18288" marB="18288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4348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</a:rPr>
              <a:t>▪ 표는 물리 힌트를 넣기 전 모델 기준. 힌트 적용 후: 공극 7.138 · 전체 11.096 · 토크 3.354% (§27)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1A1A1A"/>
                </a:solidFill>
                <a:latin typeface="맑은 고딕"/>
              </a:rPr>
              <a:t>▪ 재현성 — 모델 파일마다 지문(체크섬) 관리, 같은 채점 3회 반복해 바이트까지 동일 확인, 시험 문제 구성도 데이터 지문과 함께 고정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C44E52"/>
                </a:solidFill>
                <a:latin typeface="맑은 고딕"/>
              </a:rPr>
              <a:t>▪ 주장 범위 — 슬롯/극 조합은 하나(48슬롯/8극), 형상 변수는 두 비율, 2D 정자기 해석, 시험 형상 6개. 이 범위 밖(다른 토폴로지 등)은 주장하지 않는다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부록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용어집 (1/2) — 오늘 나온 낯선 말들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04672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용어</a:t>
                      </a:r>
                    </a:p>
                  </a:txBody>
                  <a:tcPr anchor="ctr" marL="73152" marR="73152" marT="18288" marB="18288">
                    <a:solidFill>
                      <a:srgbClr val="0F7B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anchor="ctr" marL="73152" marR="73152" marT="18288" marB="18288">
                    <a:solidFill>
                      <a:srgbClr val="0F7B6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서로게이트 (대리모델)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FEM 대신 결과를 곧바로 예측하도록 학습시킨 AI 모델</a:t>
                      </a:r>
                    </a:p>
                  </a:txBody>
                  <a:tcPr anchor="ctr" marL="73152" marR="73152" marT="18288" marB="18288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GNN / 메시 그래프 신경망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메시를 점(절점)과 선(연결)으로 읽는 AI. 절점이 이웃과 정보를 주고받으며 장을 예측</a:t>
                      </a:r>
                    </a:p>
                  </a:txBody>
                  <a:tcPr anchor="ctr" marL="73152" marR="73152" marT="18288" marB="18288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nRMSE (오차율)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AI 예측과 FEM 참값의 차이를 참값의 크기로 나눈 % — 0%면 완벽, 7%면 참값 대비 7% 어긋남</a:t>
                      </a:r>
                    </a:p>
                  </a:txBody>
                  <a:tcPr anchor="ctr" marL="73152" marR="73152" marT="18288" marB="18288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|B|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자속밀도의 크기. "공극 |B| 오차 7%"는 공극에서 자속밀도를 평균 7% 틀린다는 뜻</a:t>
                      </a:r>
                    </a:p>
                  </a:txBody>
                  <a:tcPr anchor="ctr" marL="73152" marR="73152" marT="18288" marB="18288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홀드아웃 / test (시험 형상)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학습에 쓰지 않고 숨겨둔 형상 6개 — 실력 측정은 반드시 여기서만 한다</a:t>
                      </a:r>
                    </a:p>
                  </a:txBody>
                  <a:tcPr anchor="ctr" marL="73152" marR="73152" marT="18288" marB="18288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챔피언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그 시점까지 시험 성적이 가장 좋은 모델을 부르는 이름</a:t>
                      </a:r>
                    </a:p>
                  </a:txBody>
                  <a:tcPr anchor="ctr" marL="73152" marR="73152" marT="18288" marB="18288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합격 기준 (게이트, G1′)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공극 오차 5% 미만 그리고 토크 오차 3% 미만 — 실무 투입을 논할 최소선</a:t>
                      </a:r>
                    </a:p>
                  </a:txBody>
                  <a:tcPr anchor="ctr" marL="73152" marR="73152" marT="18288" marB="18288"/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사전 등록 / 1차 기준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실험 결과를 보기 전에 성공 판정선을 문서로 박아두는 것. 물리 힌트 실험의 '공극 7.05% 미만'이 그 예 — 직전 최고(7.30%) 대비 우연 변동을 넘는 진짜 개선인지 가르는 값으로, 실무 합격선 5%와는 별개</a:t>
                      </a:r>
                    </a:p>
                  </a:txBody>
                  <a:tcPr anchor="ctr" marL="73152" marR="73152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66928" y="2743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7B6C"/>
                </a:solidFill>
                <a:latin typeface="맑은 고딕"/>
              </a:rPr>
              <a:t>부록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66928" y="585216"/>
            <a:ext cx="9601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A1A1A"/>
                </a:solidFill>
                <a:latin typeface="맑은 고딕"/>
              </a:rPr>
              <a:t>용어집 (2/2) — 오늘 나온 낯선 말들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106424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046720"/>
              </a:tblGrid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용어</a:t>
                      </a:r>
                    </a:p>
                  </a:txBody>
                  <a:tcPr anchor="ctr" marL="73152" marR="73152" marT="18288" marB="18288">
                    <a:solidFill>
                      <a:srgbClr val="0F7B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뜻</a:t>
                      </a:r>
                    </a:p>
                  </a:txBody>
                  <a:tcPr anchor="ctr" marL="73152" marR="73152" marT="18288" marB="18288">
                    <a:solidFill>
                      <a:srgbClr val="0F7B6C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판정 양성 / 음성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미리 정한 기준을 넘었다(효과 있음) / 못 넘었다(효과 확인 안 됨) — 의학 시험 용어를 빌린 것</a:t>
                      </a:r>
                    </a:p>
                  </a:txBody>
                  <a:tcPr anchor="ctr" marL="73152" marR="73152" marT="18288" marB="18288"/>
                </a:tc>
              </a:tr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표현 바닥 (방식의 한계선)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FEM 참값을 그 계산 방식으로 옮겨 적기만 해도 남는 오차 — 어떤 학습도 이보다 잘할 수 없다</a:t>
                      </a:r>
                    </a:p>
                  </a:txBody>
                  <a:tcPr anchor="ctr" marL="73152" marR="73152" marT="18288" marB="18288"/>
                </a:tc>
              </a:tr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물리 prior (물리 힌트)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간이 선형 자기해석 결과를 절점마다 미리 계산해 AI 입력에 주는 것 — AI는 그 보정만 배운다</a:t>
                      </a:r>
                    </a:p>
                  </a:txBody>
                  <a:tcPr anchor="ctr" marL="73152" marR="73152" marT="18288" marB="18288"/>
                </a:tc>
              </a:tr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Arkkio 토크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공극 밴드의 자기응력(맥스웰 응력)을 적분해 토크를 얻는 표준 계산법</a:t>
                      </a:r>
                    </a:p>
                  </a:txBody>
                  <a:tcPr anchor="ctr" marL="73152" marR="73152" marT="18288" marB="18288"/>
                </a:tc>
              </a:tr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에폭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학습 데이터 전체를 한 바퀴 도는 반복 단위. "50에폭"은 전체를 50번 반복 학습</a:t>
                      </a:r>
                    </a:p>
                  </a:txBody>
                  <a:tcPr anchor="ctr" marL="73152" marR="73152" marT="18288" marB="18288"/>
                </a:tc>
              </a:tr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%p (퍼센트포인트)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%값끼리의 차이. 오차 7.14%에서 5%까지는 2.14%p</a:t>
                      </a:r>
                    </a:p>
                  </a:txBody>
                  <a:tcPr anchor="ctr" marL="73152" marR="73152" marT="18288" marB="18288"/>
                </a:tc>
              </a:tr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DOE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설계 변수(형상·전류 등)를 계획적으로 바꿔 만든 해석 케이스 모음</a:t>
                      </a:r>
                    </a:p>
                  </a:txBody>
                  <a:tcPr anchor="ctr" marL="73152" marR="73152" marT="18288" marB="18288"/>
                </a:tc>
              </a:tr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누수 (컨닝)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시험 형상의 정보가 학습에 섞여 성적이 가짜로 좋아지는 것 — 세 번 잡아서 고쳤다</a:t>
                      </a:r>
                    </a:p>
                  </a:txBody>
                  <a:tcPr anchor="ctr" marL="73152" marR="73152" marT="18288" marB="18288"/>
                </a:tc>
              </a:tr>
              <a:tr h="42394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파라미터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AI 모델 내부의 조절 가능한 숫자들 — 많을수록 큰 모델 (우리는 930만 개)</a:t>
                      </a:r>
                    </a:p>
                  </a:txBody>
                  <a:tcPr anchor="ctr" marL="73152" marR="73152" marT="18288" marB="18288"/>
                </a:tc>
              </a:tr>
              <a:tr h="4239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체크포인트</a:t>
                      </a:r>
                    </a:p>
                  </a:txBody>
                  <a:tcPr anchor="ctr" marL="73152" marR="73152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학습 도중 특정 시점의 모델을 저장해 둔 파일 — "당시 모델"이라고 하면 이것</a:t>
                      </a:r>
                    </a:p>
                  </a:txBody>
                  <a:tcPr anchor="ctr" marL="73152" marR="73152" marT="18288" marB="18288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