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오늘은 motorAI 서로게이트가 지금 어떤 상태이고, 무엇을 어떻게 고쳐 나가고 있는지</a:t>
            </a:r>
          </a:p>
          <a:p>
            <a:r>
              <a:rPr sz="1100">
                <a:latin typeface="맑은 고딕"/>
              </a:rPr>
              <a:t>짧게 공유하겠습니다. 10분 남짓 보시면 됩니다.</a:t>
            </a:r>
          </a:p>
          <a:p/>
          <a:p>
            <a:r>
              <a:rPr sz="1100">
                <a:latin typeface="맑은 고딕"/>
              </a:rPr>
              <a:t>한 줄로 먼저 말씀드리면 — Motor-CAD FEA를 대체할 GNN 서로게이트를 만들고 있고,</a:t>
            </a:r>
          </a:p>
          <a:p>
            <a:r>
              <a:rPr sz="1100">
                <a:latin typeface="맑은 고딕"/>
              </a:rPr>
              <a:t>지금 공극 필드 오차 7.14%, 토크 3.35%입니다. 목표는 5%와 3%입니다.</a:t>
            </a:r>
          </a:p>
          <a:p>
            <a:r>
              <a:rPr sz="1100">
                <a:latin typeface="맑은 고딕"/>
              </a:rPr>
              <a:t>공극은 아직 2.1pp 남았지만, 토크는 0.35pp까지 붙었습니다.</a:t>
            </a:r>
          </a:p>
          <a:p>
            <a:r>
              <a:rPr sz="1100">
                <a:latin typeface="맑은 고딕"/>
              </a:rPr>
              <a:t>불과 얼마 전까지 토크가 5.4%였으니 최근에 크게 움직인 겁니다.</a:t>
            </a:r>
          </a:p>
          <a:p>
            <a:r>
              <a:rPr sz="1100">
                <a:latin typeface="맑은 고딕"/>
              </a:rPr>
              <a:t>무엇이 그걸 움직였고 다음에 뭘 할 건지가 오늘 내용입니다.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결론부터 세 칸으로 요약했습니다.</a:t>
            </a:r>
          </a:p>
          <a:p/>
          <a:p>
            <a:r>
              <a:rPr sz="1100">
                <a:latin typeface="맑은 고딕"/>
              </a:rPr>
              <a:t>왼쪽, 지금 위치. 공극 7.14%, 토크 3.35%입니다. 목표는 5%와 3%.</a:t>
            </a:r>
          </a:p>
          <a:p>
            <a:r>
              <a:rPr sz="1100">
                <a:latin typeface="맑은 고딕"/>
              </a:rPr>
              <a:t>다만 용도를 나눠서 봐야 합니다. "후보 설계를 순위 매겨서 거르는" 스크리닝 용도는</a:t>
            </a:r>
          </a:p>
          <a:p>
            <a:r>
              <a:rPr sz="1100">
                <a:latin typeface="맑은 고딕"/>
              </a:rPr>
              <a:t>지금 정확도로 이미 됩니다. 뒤에 근거를 보여드립니다.</a:t>
            </a:r>
          </a:p>
          <a:p>
            <a:r>
              <a:rPr sz="1100">
                <a:latin typeface="맑은 고딕"/>
              </a:rPr>
              <a:t>"이 설계의 토크가 몇 N·m이다"라고 정량으로 쓰는 건 아직 안 됩니다.</a:t>
            </a:r>
          </a:p>
          <a:p/>
          <a:p>
            <a:r>
              <a:rPr sz="1100">
                <a:latin typeface="맑은 고딕"/>
              </a:rPr>
              <a:t>가운데, 병목 진단. 이게 지난 몇 주의 핵심 결과입니다.</a:t>
            </a:r>
          </a:p>
          <a:p>
            <a:r>
              <a:rPr sz="1100">
                <a:latin typeface="맑은 고딕"/>
              </a:rPr>
              <a:t>모델을 키우고, 손실을 바꾸고, 아키텍처를 바꾸고, 출력 표현을 바꿨습니다.</a:t>
            </a:r>
          </a:p>
          <a:p>
            <a:r>
              <a:rPr sz="1100">
                <a:latin typeface="맑은 고딕"/>
              </a:rPr>
              <a:t>한 번에 한 축씩만 바꾸는 통제 실험으로요. 전부 안 움직였습니다.</a:t>
            </a:r>
          </a:p>
          <a:p>
            <a:r>
              <a:rPr sz="1100">
                <a:latin typeface="맑은 고딕"/>
              </a:rPr>
              <a:t>움직인 건 학습 데이터 양 하나뿐인데, 그 기울기가 너무 얕아서 목표까지 못 갑니다.</a:t>
            </a:r>
          </a:p>
          <a:p/>
          <a:p>
            <a:r>
              <a:rPr sz="1100">
                <a:latin typeface="맑은 고딕"/>
              </a:rPr>
              <a:t>오른쪽, 그래서 뭘 했고 뭐가 나왔나. 해석 모델로 푼 사전해를 입력 특징에 넣었습니다.</a:t>
            </a:r>
          </a:p>
          <a:p>
            <a:r>
              <a:rPr sz="1100">
                <a:latin typeface="맑은 고딕"/>
              </a:rPr>
              <a:t>토크가 5.40에서 3.35%로 움직였습니다. 목표 3%까지 0.35pp 남았습니다.</a:t>
            </a:r>
          </a:p>
          <a:p>
            <a:r>
              <a:rPr sz="1100">
                <a:latin typeface="맑은 고딕"/>
              </a:rPr>
              <a:t>다만 정직하게 말씀드리면 사전에 등록한 1차 지표는 공극이었고, 그건 음성입니다.</a:t>
            </a:r>
          </a:p>
          <a:p>
            <a:r>
              <a:rPr sz="1100">
                <a:latin typeface="맑은 고딕"/>
              </a:rPr>
              <a:t>공극 7.138%인데 기준이 7.05%였습니다. 0.09pp 차이라 변동 밴드 안입니다.</a:t>
            </a:r>
          </a:p>
          <a:p>
            <a:r>
              <a:rPr sz="1100">
                <a:latin typeface="맑은 고딕"/>
              </a:rPr>
              <a:t>그래서 "1차 지표는 음성, 토크는 크게 개선"이라고 둘 다 보고합니다.</a:t>
            </a:r>
          </a:p>
          <a:p/>
          <a:p>
            <a:r>
              <a:rPr sz="1100">
                <a:latin typeface="맑은 고딕"/>
              </a:rPr>
              <a:t>지금은 형상에 전류축을 더한 320케이스 학습이 돌고 있습니다.</a:t>
            </a:r>
          </a:p>
          <a:p/>
          <a:p>
            <a:r>
              <a:rPr sz="1100">
                <a:latin typeface="맑은 고딕"/>
              </a:rPr>
              <a:t>한 문장으로 줄이면 아래 박스입니다.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배경을 짧게 짚고 가겠습니다.</a:t>
            </a:r>
          </a:p>
          <a:p/>
          <a:p>
            <a:r>
              <a:rPr sz="1100">
                <a:latin typeface="맑은 고딕"/>
              </a:rPr>
              <a:t>Motor-CAD로 IPM 한 케이스를 45개 회전 자세까지 풀면 160초 정도 걸립니다.</a:t>
            </a:r>
          </a:p>
          <a:p>
            <a:r>
              <a:rPr sz="1100">
                <a:latin typeface="맑은 고딕"/>
              </a:rPr>
              <a:t>설계 공간을 훑으려면 이걸 수천 번 해야 하니 감당이 안 됩니다.</a:t>
            </a:r>
          </a:p>
          <a:p>
            <a:r>
              <a:rPr sz="1100">
                <a:latin typeface="맑은 고딕"/>
              </a:rPr>
              <a:t>저희 DOE를 120케이스 늘리는 데만 대여섯 시간 걸렸습니다.</a:t>
            </a:r>
          </a:p>
          <a:p/>
          <a:p>
            <a:r>
              <a:rPr sz="1100">
                <a:latin typeface="맑은 고딕"/>
              </a:rPr>
              <a:t>그래서 서로게이트를 학습시킵니다. 메시를 그래프로 바꿔서 GNN에 넣습니다.</a:t>
            </a:r>
          </a:p>
          <a:p>
            <a:r>
              <a:rPr sz="1100">
                <a:latin typeface="맑은 고딕"/>
              </a:rPr>
              <a:t>왜 GNN이냐 하면, 형상이 바뀌면 메시가 통째로 달라지기 때문입니다.</a:t>
            </a:r>
          </a:p>
          <a:p>
            <a:r>
              <a:rPr sz="1100">
                <a:latin typeface="맑은 고딕"/>
              </a:rPr>
              <a:t>격자에 얹는 CNN 방식으로는 IPM 형상을 담을 수가 없습니다.</a:t>
            </a:r>
          </a:p>
          <a:p>
            <a:r>
              <a:rPr sz="1100">
                <a:latin typeface="맑은 고딕"/>
              </a:rPr>
              <a:t>모델은 MeshGraphNet인데, 개념적으로는 각 절점이 이웃과 열다섯 번 정보를 주고받으면서</a:t>
            </a:r>
          </a:p>
          <a:p>
            <a:r>
              <a:rPr sz="1100">
                <a:latin typeface="맑은 고딕"/>
              </a:rPr>
              <a:t>자기 값을 갱신하는 구조입니다. FEM이 국소 결합으로 푸는 것과 닮았습니다.</a:t>
            </a:r>
          </a:p>
          <a:p/>
          <a:p>
            <a:r>
              <a:rPr sz="1100">
                <a:latin typeface="맑은 고딕"/>
              </a:rPr>
              <a:t>마지막 항목이 저희가 처음부터 잡고 간 원칙입니다.</a:t>
            </a:r>
          </a:p>
          <a:p>
            <a:r>
              <a:rPr sz="1100">
                <a:latin typeface="맑은 고딕"/>
              </a:rPr>
              <a:t>보통 이런 연구는 필드 오차 norm만 보고합니다. 그런데 설계자가 보는 건 토크입니다.</a:t>
            </a:r>
          </a:p>
          <a:p>
            <a:r>
              <a:rPr sz="1100">
                <a:latin typeface="맑은 고딕"/>
              </a:rPr>
              <a:t>그래서 저희는 모델이 뱉은 장에 Arkkio 응력 적분을 걸어 토크까지 계산해서 판정합니다.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지금 성적입니다. 연한 막대가 이전 챔피언, 진한 막대가 현재 모델,</a:t>
            </a:r>
          </a:p>
          <a:p>
            <a:r>
              <a:rPr sz="1100">
                <a:latin typeface="맑은 고딕"/>
              </a:rPr>
              <a:t>빨간 선이 목표, 제일 진한 부분이 도달 가능한 물리적 바닥입니다.</a:t>
            </a:r>
          </a:p>
          <a:p/>
          <a:p>
            <a:r>
              <a:rPr sz="1100">
                <a:latin typeface="맑은 고딕"/>
              </a:rPr>
              <a:t>좋은 소식부터. 토크가 5.40에서 3.35%로 내려왔습니다. 목표 3%까지 0.35pp 남았습니다.</a:t>
            </a:r>
          </a:p>
          <a:p>
            <a:r>
              <a:rPr sz="1100">
                <a:latin typeface="맑은 고딕"/>
              </a:rPr>
              <a:t>G1' 게이트 두 항목 중 하나가 사정권에 들어온 건 이번이 처음입니다.</a:t>
            </a:r>
          </a:p>
          <a:p>
            <a:r>
              <a:rPr sz="1100">
                <a:latin typeface="맑은 고딕"/>
              </a:rPr>
              <a:t>특히 데이터 축으로는 토크가 배가당 0.08pp밖에 안 움직여서 사실상 무망으로 판정했었는데,</a:t>
            </a:r>
          </a:p>
          <a:p>
            <a:r>
              <a:rPr sz="1100">
                <a:latin typeface="맑은 고딕"/>
              </a:rPr>
              <a:t>물리 주입은 한 번에 2pp를 움직였습니다.</a:t>
            </a:r>
          </a:p>
          <a:p/>
          <a:p>
            <a:r>
              <a:rPr sz="1100">
                <a:latin typeface="맑은 고딕"/>
              </a:rPr>
              <a:t>그런데 정직하게 말씀드릴 게 있습니다. 저희가 사전에 등록한 1차 판정 지표는 토크가 아니라</a:t>
            </a:r>
          </a:p>
          <a:p>
            <a:r>
              <a:rPr sz="1100">
                <a:latin typeface="맑은 고딕"/>
              </a:rPr>
              <a:t>공극이었습니다. 공극은 7.138%가 나왔고 기준이 7.05%였습니다. 0.09pp 차이로 못 넘었습니다.</a:t>
            </a:r>
          </a:p>
          <a:p>
            <a:r>
              <a:rPr sz="1100">
                <a:latin typeface="맑은 고딕"/>
              </a:rPr>
              <a:t>변동 밴드 안이라 "개선됐다"고 주장할 수 없습니다. 그래서 1차 지표 기준으로는 음성입니다.</a:t>
            </a:r>
          </a:p>
          <a:p>
            <a:r>
              <a:rPr sz="1100">
                <a:latin typeface="맑은 고딕"/>
              </a:rPr>
              <a:t>사전에 기준을 적어놨기 때문에 유리한 지표로 갈아타는 일 없이 이렇게 보고할 수 있습니다.</a:t>
            </a:r>
          </a:p>
          <a:p/>
          <a:p>
            <a:r>
              <a:rPr sz="1100">
                <a:latin typeface="맑은 고딕"/>
              </a:rPr>
              <a:t>세 번째 줄이 다음 작업의 근거입니다. 공극의 도달 가능 바닥이 2.68%입니다.</a:t>
            </a:r>
          </a:p>
          <a:p>
            <a:r>
              <a:rPr sz="1100">
                <a:latin typeface="맑은 고딕"/>
              </a:rPr>
              <a:t>지금 7.14%라는 건 표현의 한계에 부딪힌 게 아니라 아직 학습이 못 따라간 겁니다.</a:t>
            </a:r>
          </a:p>
          <a:p>
            <a:r>
              <a:rPr sz="1100">
                <a:latin typeface="맑은 고딕"/>
              </a:rPr>
              <a:t>4.5pp 여유가 실제로 있으니 여기가 공략 지점입니다.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숫자만 보시면 감이 안 오실 것 같아 실제 장을 띄웠습니다. test 케이스 4번, 회전 10번째 자세입니다.</a:t>
            </a:r>
          </a:p>
          <a:p/>
          <a:p>
            <a:r>
              <a:rPr sz="1100">
                <a:latin typeface="맑은 고딕"/>
              </a:rPr>
              <a:t>행마다 왼쪽이 FEM 참값, 가운데가 서로게이트 예측, 오른쪽이 차이입니다.</a:t>
            </a:r>
          </a:p>
          <a:p>
            <a:r>
              <a:rPr sz="1100">
                <a:latin typeface="맑은 고딕"/>
              </a:rPr>
              <a:t>윗줄이 이전 챔피언, 아랫줄이 물리 prior를 넣은 현재 모델입니다.</a:t>
            </a:r>
          </a:p>
          <a:p/>
          <a:p>
            <a:r>
              <a:rPr sz="1100">
                <a:latin typeface="맑은 고딕"/>
              </a:rPr>
              <a:t>보시면 전체적인 자속 분포 — 자석에서 나와 회전자 철심을 지나 공극을 건너</a:t>
            </a:r>
          </a:p>
          <a:p>
            <a:r>
              <a:rPr sz="1100">
                <a:latin typeface="맑은 고딕"/>
              </a:rPr>
              <a:t>고정자 치로 들어가는 경로 — 는 왼쪽과 가운데가 눈으로 구분이 안 됩니다.</a:t>
            </a:r>
          </a:p>
          <a:p/>
          <a:p>
            <a:r>
              <a:rPr sz="1100">
                <a:latin typeface="맑은 고딕"/>
              </a:rPr>
              <a:t>차이 패널을 보면 오차가 어디 있는지 드러납니다.</a:t>
            </a:r>
          </a:p>
          <a:p>
            <a:r>
              <a:rPr sz="1100">
                <a:latin typeface="맑은 고딕"/>
              </a:rPr>
              <a:t>매끈한 요크나 자석 내부처럼 장이 완만한 곳은 거의 흰색이고,</a:t>
            </a:r>
          </a:p>
          <a:p>
            <a:r>
              <a:rPr sz="1100">
                <a:latin typeface="맑은 고딕"/>
              </a:rPr>
              <a:t>슬롯과 권선 영역, 자석·치 경계처럼 형상이 급하게 꺾이는 곳에 얼룩이 몰려 있습니다.</a:t>
            </a:r>
          </a:p>
          <a:p>
            <a:r>
              <a:rPr sz="1100">
                <a:latin typeface="맑은 고딕"/>
              </a:rPr>
              <a:t>아까 영역별 표에서 권선이 40%, 공극이 7%였던 게 그림으로는 이렇게 보입니다.</a:t>
            </a:r>
          </a:p>
          <a:p/>
          <a:p>
            <a:r>
              <a:rPr sz="1100">
                <a:latin typeface="맑은 고딕"/>
              </a:rPr>
              <a:t>공극을 따라 흰 호가 지나가는데 저건 오차가 아닙니다. 슬라이딩 밴드 요소입니다.</a:t>
            </a:r>
          </a:p>
          <a:p>
            <a:r>
              <a:rPr sz="1100">
                <a:latin typeface="맑은 고딕"/>
              </a:rPr>
              <a:t>회전 자세마다 연결성이 바뀌어서 유효한 형상이 없기 때문에 아예 안 그립니다.</a:t>
            </a:r>
          </a:p>
          <a:p>
            <a:r>
              <a:rPr sz="1100">
                <a:latin typeface="맑은 고딕"/>
              </a:rPr>
              <a:t>1만3천 요소 중 1만1천6백 개만 그려진 이유가 그겁니다.</a:t>
            </a:r>
          </a:p>
          <a:p/>
          <a:p>
            <a:r>
              <a:rPr sz="1100">
                <a:latin typeface="맑은 고딕"/>
              </a:rPr>
              <a:t>한 가지 주의드리면, 패널 제목의 퍼센트는 스코어카드 전체 집계값입니다.</a:t>
            </a:r>
          </a:p>
          <a:p>
            <a:r>
              <a:rPr sz="1100">
                <a:latin typeface="맑은 고딕"/>
              </a:rPr>
              <a:t>이 한 장면의 오차가 아닙니다. 그림과 숫자를 섞어 읽지 않도록 라벨에 명시해뒀습니다.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토크 파형입니다. 이 그림 한 장에 두 가지가 같이 들어 있습니다.</a:t>
            </a:r>
          </a:p>
          <a:p/>
          <a:p>
            <a:r>
              <a:rPr sz="1100">
                <a:latin typeface="맑은 고딕"/>
              </a:rPr>
              <a:t>파란색이 Motor-CAD가 가상일법으로 계산한 토크입니다. 이게 기준입니다.</a:t>
            </a:r>
          </a:p>
          <a:p>
            <a:r>
              <a:rPr sz="1100">
                <a:latin typeface="맑은 고딕"/>
              </a:rPr>
              <a:t>두 번째 곡선은 FEM이 푼 장에 우리 Arkkio 응력 적분을 걸어서 나온 토크입니다.</a:t>
            </a:r>
          </a:p>
          <a:p>
            <a:r>
              <a:rPr sz="1100">
                <a:latin typeface="맑은 고딕"/>
              </a:rPr>
              <a:t>이 둘의 차이가 평균 0.35%입니다. 즉 우리 토크 계산기 자체가 맞다는 뜻입니다.</a:t>
            </a:r>
          </a:p>
          <a:p>
            <a:r>
              <a:rPr sz="1100">
                <a:latin typeface="맑은 고딕"/>
              </a:rPr>
              <a:t>이게 없으면 "서로게이트 토크 오차 3.35%"라는 말이 의미가 없습니다.</a:t>
            </a:r>
          </a:p>
          <a:p>
            <a:r>
              <a:rPr sz="1100">
                <a:latin typeface="맑은 고딕"/>
              </a:rPr>
              <a:t>연산자가 틀렸을 가능성을 먼저 지워야 하니까요.</a:t>
            </a:r>
          </a:p>
          <a:p/>
          <a:p>
            <a:r>
              <a:rPr sz="1100">
                <a:latin typeface="맑은 고딕"/>
              </a:rPr>
              <a:t>빨간색이 서로게이트가 예측한 장에 같은 연산자를 건 결과입니다.</a:t>
            </a:r>
          </a:p>
          <a:p>
            <a:r>
              <a:rPr sz="1100">
                <a:latin typeface="맑은 고딕"/>
              </a:rPr>
              <a:t>그러니까 기준선과 빨간 선 사이의 간격이 순수하게 모델 탓입니다.</a:t>
            </a:r>
          </a:p>
          <a:p/>
          <a:p>
            <a:r>
              <a:rPr sz="1100">
                <a:latin typeface="맑은 고딕"/>
              </a:rPr>
              <a:t>여기는 정직하게 봐주셔야 합니다. 평균 수준과 리플의 큰 주기는 따라갑니다.</a:t>
            </a:r>
          </a:p>
          <a:p>
            <a:r>
              <a:rPr sz="1100">
                <a:latin typeface="맑은 고딕"/>
              </a:rPr>
              <a:t>슬롯 통과로 생기는 골짜기 위치는 대체로 맞습니다.</a:t>
            </a:r>
          </a:p>
          <a:p>
            <a:r>
              <a:rPr sz="1100">
                <a:latin typeface="맑은 고딕"/>
              </a:rPr>
              <a:t>그런데 아래 오차 패널을 보시면, 구간에 따라 오차가 확 커지는 데가 있습니다.</a:t>
            </a:r>
          </a:p>
          <a:p>
            <a:r>
              <a:rPr sz="1100">
                <a:latin typeface="맑은 고딕"/>
              </a:rPr>
              <a:t>전기각 230도에서 280도 사이가 특히 그렇습니다. 여기서 리플 진폭을 과대예측합니다.</a:t>
            </a:r>
          </a:p>
          <a:p>
            <a:r>
              <a:rPr sz="1100">
                <a:latin typeface="맑은 고딕"/>
              </a:rPr>
              <a:t>평균만 맞춘 건 아니지만, 파형을 그대로 쓸 수 있는 수준도 아직 아닙니다.</a:t>
            </a:r>
          </a:p>
          <a:p/>
          <a:p>
            <a:r>
              <a:rPr sz="1100">
                <a:latin typeface="맑은 고딕"/>
              </a:rPr>
              <a:t>test 전체로 집계한 토크 오차가 3.354%인데, 이 그림은 그 숫자가 한 케이스에서</a:t>
            </a:r>
          </a:p>
          <a:p>
            <a:r>
              <a:rPr sz="1100">
                <a:latin typeface="맑은 고딕"/>
              </a:rPr>
              <a:t>어떤 모양으로 나타나는지를 보여주는 겁니다.</a:t>
            </a:r>
          </a:p>
          <a:p>
            <a:r>
              <a:rPr sz="1100">
                <a:latin typeface="맑은 고딕"/>
              </a:rPr>
              <a:t>NVH까지 보시려면 이 빨간 곡선이 초록색만큼 붙어야 하고, 그게 남은 과제입니다.</a:t>
            </a:r>
          </a:p>
          <a:p/>
          <a:p>
            <a:r>
              <a:rPr sz="1100">
                <a:latin typeface="맑은 고딕"/>
              </a:rPr>
              <a:t>참고로 이 검증 수치는 한 번 정정된 적이 있습니다. 문서에 0.60%로 적혀 있었는데</a:t>
            </a:r>
          </a:p>
          <a:p>
            <a:r>
              <a:rPr sz="1100">
                <a:latin typeface="맑은 고딕"/>
              </a:rPr>
              <a:t>어느 커밋된 아티팩트에서도 재현이 안 돼서 재유도했고, 재현되는 값은 0.35%입니다.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이게 진단의 근거입니다. 캠페인 전체를 한 장에 담았습니다.</a:t>
            </a:r>
          </a:p>
          <a:p>
            <a:r>
              <a:rPr sz="1100">
                <a:latin typeface="맑은 고딕"/>
              </a:rPr>
              <a:t>위가 필드 오차, 아래가 토크 오차. 왼쪽에서 오른쪽으로 시간 순서고,</a:t>
            </a:r>
          </a:p>
          <a:p>
            <a:r>
              <a:rPr sz="1100">
                <a:latin typeface="맑은 고딕"/>
              </a:rPr>
              <a:t>각 막대는 바로 앞 구성에서 딱 한 축만 바꾼 겁니다.</a:t>
            </a:r>
          </a:p>
          <a:p/>
          <a:p>
            <a:r>
              <a:rPr sz="1100">
                <a:latin typeface="맑은 고딕"/>
              </a:rPr>
              <a:t>파란색은 용량입니다. 파라미터를 230만에서 930만으로 늘렸는데 13.0에서 12.7,</a:t>
            </a:r>
          </a:p>
          <a:p>
            <a:r>
              <a:rPr sz="1100">
                <a:latin typeface="맑은 고딕"/>
              </a:rPr>
              <a:t>런간 변동 0.25pp 안에서 안 움직입니다. 깊이를 늘려도 마찬가지입니다.</a:t>
            </a:r>
          </a:p>
          <a:p/>
          <a:p>
            <a:r>
              <a:rPr sz="1100">
                <a:latin typeface="맑은 고딕"/>
              </a:rPr>
              <a:t>초록색은 감독 신호. 필드 오차는 평탄합니다. 다만 토크는 움직였습니다 — 이건 뒤에 나옵니다.</a:t>
            </a:r>
          </a:p>
          <a:p/>
          <a:p>
            <a:r>
              <a:rPr sz="1100">
                <a:latin typeface="맑은 고딕"/>
              </a:rPr>
              <a:t>주황색은 아키텍처. 전역 어텐션을 넣었더니 16.6%로 오히려 나빠졌고,</a:t>
            </a:r>
          </a:p>
          <a:p>
            <a:r>
              <a:rPr sz="1100">
                <a:latin typeface="맑은 고딕"/>
              </a:rPr>
              <a:t>장거리 엣지를 넣어도 제자리입니다.</a:t>
            </a:r>
          </a:p>
          <a:p/>
          <a:p>
            <a:r>
              <a:rPr sz="1100">
                <a:latin typeface="맑은 고딕"/>
              </a:rPr>
              <a:t>빨간색은 출력 표현. 18.7%로 크게 나빠졌습니다.</a:t>
            </a:r>
          </a:p>
          <a:p/>
          <a:p>
            <a:r>
              <a:rPr sz="1100">
                <a:latin typeface="맑은 고딕"/>
              </a:rPr>
              <a:t>그리고 오른쪽 끝 청록색이 데이터입니다. 학습 형상 수를 늘렸더니 처음으로 바닥이 깨졌습니다.</a:t>
            </a:r>
          </a:p>
          <a:p/>
          <a:p>
            <a:r>
              <a:rPr sz="1100">
                <a:latin typeface="맑은 고딕"/>
              </a:rPr>
              <a:t>솔직히 말씀드리면 앞의 네 축은 전부 음성입니다. 실험의 상당수가 실패였습니다.</a:t>
            </a:r>
          </a:p>
          <a:p>
            <a:r>
              <a:rPr sz="1100">
                <a:latin typeface="맑은 고딕"/>
              </a:rPr>
              <a:t>그런데 이 실패들이 "병목은 모델이 아니라 데이터, 즉 정보다"라는 진단을 만들어줬습니다.</a:t>
            </a:r>
          </a:p>
          <a:p>
            <a:r>
              <a:rPr sz="1100">
                <a:latin typeface="맑은 고딕"/>
              </a:rPr>
              <a:t>하나씩 지워보지 않았으면 지금 물리 주입으로 가는 근거가 없었을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데이터 축을 자세히 보겠습니다.</a:t>
            </a:r>
          </a:p>
          <a:p/>
          <a:p>
            <a:r>
              <a:rPr sz="1100">
                <a:latin typeface="맑은 고딕"/>
              </a:rPr>
              <a:t>학습 형상을 40, 120, 240으로 늘리면 필드 오차가 12.75에서 11.64%까지 내려갑니다.</a:t>
            </a:r>
          </a:p>
          <a:p>
            <a:r>
              <a:rPr sz="1100">
                <a:latin typeface="맑은 고딕"/>
              </a:rPr>
              <a:t>개선이 광범위합니다 — 6개 평가 형상이 전부, 매 단계마다 좋아집니다.</a:t>
            </a:r>
          </a:p>
          <a:p>
            <a:r>
              <a:rPr sz="1100">
                <a:latin typeface="맑은 고딕"/>
              </a:rPr>
              <a:t>한 케이스가 평균을 끌고 가는 게 아닙니다.</a:t>
            </a:r>
          </a:p>
          <a:p/>
          <a:p>
            <a:r>
              <a:rPr sz="1100">
                <a:latin typeface="맑은 고딕"/>
              </a:rPr>
              <a:t>속이 빈 동그라미를 봐주십시오. 여기에 배울 점이 있습니다.</a:t>
            </a:r>
          </a:p>
          <a:p>
            <a:r>
              <a:rPr sz="1100">
                <a:latin typeface="맑은 고딕"/>
              </a:rPr>
              <a:t>저건 처음 나온 240 결과인데, 데이터를 두 배로 늘렸는데 안 내려갔습니다.</a:t>
            </a:r>
          </a:p>
          <a:p>
            <a:r>
              <a:rPr sz="1100">
                <a:latin typeface="맑은 고딕"/>
              </a:rPr>
              <a:t>그래서 "스케일링 소진"으로 판정했었습니다.</a:t>
            </a:r>
          </a:p>
          <a:p>
            <a:r>
              <a:rPr sz="1100">
                <a:latin typeface="맑은 고딕"/>
              </a:rPr>
              <a:t>원인은 compute를 맞춘다고 에폭을 절반으로 줄인 것이었습니다.</a:t>
            </a:r>
          </a:p>
          <a:p>
            <a:r>
              <a:rPr sz="1100">
                <a:latin typeface="맑은 고딕"/>
              </a:rPr>
              <a:t>데이터가 두 배면 에폭도 두 배가 필요한데, 샘플당 노출을 반토막 낸 겁니다.</a:t>
            </a:r>
          </a:p>
          <a:p>
            <a:r>
              <a:rPr sz="1100">
                <a:latin typeface="맑은 고딕"/>
              </a:rPr>
              <a:t>다시 돌리니 11.638%가 나왔습니다. 포화가 아니라 학습 부족이었습니다.</a:t>
            </a:r>
          </a:p>
          <a:p>
            <a:r>
              <a:rPr sz="1100">
                <a:latin typeface="맑은 고딕"/>
              </a:rPr>
              <a:t>판정 기준을 미리 적어두고 실험했기 때문에 사후 해석 없이 뒤집을 수 있었습니다.</a:t>
            </a:r>
          </a:p>
          <a:p/>
          <a:p>
            <a:r>
              <a:rPr sz="1100">
                <a:latin typeface="맑은 고딕"/>
              </a:rPr>
              <a:t>그런데 마지막 두 줄이 문제입니다. 기울기가 데이터 두 배당 0.3pp입니다.</a:t>
            </a:r>
          </a:p>
          <a:p>
            <a:r>
              <a:rPr sz="1100">
                <a:latin typeface="맑은 고딕"/>
              </a:rPr>
              <a:t>이 속도로 공극 5%까지 가려면 형상이 3만 4천 개 필요하고, Motor-CAD를 62일 연속 돌려야 합니다.</a:t>
            </a:r>
          </a:p>
          <a:p>
            <a:r>
              <a:rPr sz="1100">
                <a:latin typeface="맑은 고딕"/>
              </a:rPr>
              <a:t>현실적으로 안 됩니다. 그래서 다른 레버가 필요하다는 결론이 나온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"그 숫자들을 왜 믿느냐"에 대한 답입니다. 짧게 세 가지만.</a:t>
            </a:r>
          </a:p>
          <a:p/>
          <a:p>
            <a:r>
              <a:rPr sz="1100">
                <a:latin typeface="맑은 고딕"/>
              </a:rPr>
              <a:t>첫째, 누수를 잡았습니다. time_s라는 입력 특징이 있었는데,</a:t>
            </a:r>
          </a:p>
          <a:p>
            <a:r>
              <a:rPr sz="1100">
                <a:latin typeface="맑은 고딕"/>
              </a:rPr>
              <a:t>저희 DOE는 전 케이스가 같은 속도라 이게 회전자각의 상수배였습니다. 상관계수 1.0000.</a:t>
            </a:r>
          </a:p>
          <a:p>
            <a:r>
              <a:rPr sz="1100">
                <a:latin typeface="맑은 고딕"/>
              </a:rPr>
              <a:t>독립 정보가 하나도 없는 중복 특징인데 모델이 이걸 주 단서로 학습했습니다.</a:t>
            </a:r>
          </a:p>
          <a:p>
            <a:r>
              <a:rPr sz="1100">
                <a:latin typeface="맑은 고딕"/>
              </a:rPr>
              <a:t>이 값만 바꿔서 다시 예측시키니 토크가 −264에서 +48로 부호까지 뒤집혔습니다.</a:t>
            </a:r>
          </a:p>
          <a:p>
            <a:r>
              <a:rPr sz="1100">
                <a:latin typeface="맑은 고딕"/>
              </a:rPr>
              <a:t>제거하고 홀드아웃을 케이스 단위로 바꾸니 그때까지 비교하던 모든 모델의 순위가 바뀌었습니다.</a:t>
            </a:r>
          </a:p>
          <a:p>
            <a:r>
              <a:rPr sz="1100">
                <a:latin typeface="맑은 고딕"/>
              </a:rPr>
              <a:t>즉 그 전의 비교는 전부 무의미했습니다. 필드 오차만 봤으면 못 잡았을 겁니다.</a:t>
            </a:r>
          </a:p>
          <a:p/>
          <a:p>
            <a:r>
              <a:rPr sz="1100">
                <a:latin typeface="맑은 고딕"/>
              </a:rPr>
              <a:t>둘째, 표현 바닥값입니다. 성능이 안 나올 때 모델을 탓하기 전에,</a:t>
            </a:r>
          </a:p>
          <a:p>
            <a:r>
              <a:rPr sz="1100">
                <a:latin typeface="맑은 고딕"/>
              </a:rPr>
              <a:t>참값을 그 출력 표현으로 한 번 왕복시켜 보면 도달 불가능한 하한이 나옵니다.</a:t>
            </a:r>
          </a:p>
          <a:p>
            <a:r>
              <a:rPr sz="1100">
                <a:latin typeface="맑은 고딕"/>
              </a:rPr>
              <a:t>절점 왕복 방식은 토크 바닥이 59%입니다. 쓸 수가 없죠.</a:t>
            </a:r>
          </a:p>
          <a:p>
            <a:r>
              <a:rPr sz="1100">
                <a:latin typeface="맑은 고딕"/>
              </a:rPr>
              <a:t>이산 curl은 1.6%입니다. 표현만 바꿔도 37배 차이가 납니다.</a:t>
            </a:r>
          </a:p>
          <a:p/>
          <a:p>
            <a:r>
              <a:rPr sz="1100">
                <a:latin typeface="맑은 고딕"/>
              </a:rPr>
              <a:t>셋째, 토크 연산자 자체를 Motor-CAD와 대조했습니다. 평균 0.35%, 파형 상관 0.996입니다.</a:t>
            </a:r>
          </a:p>
          <a:p>
            <a:r>
              <a:rPr sz="1100">
                <a:latin typeface="맑은 고딕"/>
              </a:rPr>
              <a:t>그래서 토크를 1급 지표로 쓸 수 있는 겁니다.</a:t>
            </a:r>
          </a:p>
          <a:p/>
          <a:p>
            <a:r>
              <a:rPr sz="1100">
                <a:latin typeface="맑은 고딕"/>
              </a:rPr>
              <a:t>이 세 가지가 없었으면 앞에서 보여드린 소거 결론을 저희 스스로도 못 믿습니다.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이번 주에 나온 발견입니다. 유쾌하진 않지만 그래서 더 공유드려야 합니다.</a:t>
            </a:r>
          </a:p>
          <a:p/>
          <a:p>
            <a:r>
              <a:rPr sz="1100">
                <a:latin typeface="맑은 고딕"/>
              </a:rPr>
              <a:t>저희 DOE는 4축이라고 알고 있었습니다. 형상 둘, 위상 진각, 그리고 피크 전류.</a:t>
            </a:r>
          </a:p>
          <a:p>
            <a:r>
              <a:rPr sz="1100">
                <a:latin typeface="맑은 고딕"/>
              </a:rPr>
              <a:t>그런데 export된 전류밀도를 감사해보니 도체 암페어-턴이 전 케이스에서 325로 상수였습니다.</a:t>
            </a:r>
          </a:p>
          <a:p>
            <a:r>
              <a:rPr sz="1100">
                <a:latin typeface="맑은 고딕"/>
              </a:rPr>
              <a:t>피크 전류가 18A인 케이스나 646A인 케이스나 여자가 같습니다. 35배 차이나는데 0.03% 안에서 동일합니다.</a:t>
            </a:r>
          </a:p>
          <a:p/>
          <a:p>
            <a:r>
              <a:rPr sz="1100">
                <a:latin typeface="맑은 고딕"/>
              </a:rPr>
              <a:t>원인은 확정했습니다. 파일이 전부 RMS 전류 모드였고, 그 모드에서 PeakCurrent는</a:t>
            </a:r>
          </a:p>
          <a:p>
            <a:r>
              <a:rPr sz="1100">
                <a:latin typeface="맑은 고딕"/>
              </a:rPr>
              <a:t>솔브 입력이 아니라 화면 표시용 파생값입니다. DOE가 표시값만 열심히 바꾸고 있었던 거죠.</a:t>
            </a:r>
          </a:p>
          <a:p/>
          <a:p>
            <a:r>
              <a:rPr sz="1100">
                <a:latin typeface="맑은 고딕"/>
              </a:rPr>
              <a:t>문서만 보고 판단하지 않고 원본 사본으로 인과 솔브를 두 번 돌렸습니다.</a:t>
            </a:r>
          </a:p>
          <a:p>
            <a:r>
              <a:rPr sz="1100">
                <a:latin typeface="맑은 고딕"/>
              </a:rPr>
              <a:t>PeakCurrent를 바꾸면 토크가 소수 넷째 자리까지 안 움직이고,</a:t>
            </a:r>
          </a:p>
          <a:p>
            <a:r>
              <a:rPr sz="1100">
                <a:latin typeface="맑은 고딕"/>
              </a:rPr>
              <a:t>RMSCurrent를 바꾸면 43% 떨어집니다. 확정입니다.</a:t>
            </a:r>
          </a:p>
          <a:p/>
          <a:p>
            <a:r>
              <a:rPr sz="1100">
                <a:latin typeface="맑은 고딕"/>
              </a:rPr>
              <a:t>함의는 나눠서 봐야 합니다.</a:t>
            </a:r>
          </a:p>
          <a:p>
            <a:r>
              <a:rPr sz="1100">
                <a:latin typeface="맑은 고딕"/>
              </a:rPr>
              <a:t>나쁜 소식은 학습 데이터에 포화 다양성이 없다는 겁니다. 전부 같은 여자에서 풀렸습니다.</a:t>
            </a:r>
          </a:p>
          <a:p>
            <a:r>
              <a:rPr sz="1100">
                <a:latin typeface="맑은 고딕"/>
              </a:rPr>
              <a:t>그래서 배포할 때 전류 의존성을 기대하면 안 됩니다. 모델이 본 적이 없으니까요.</a:t>
            </a:r>
          </a:p>
          <a:p>
            <a:r>
              <a:rPr sz="1100">
                <a:latin typeface="맑은 고딕"/>
              </a:rPr>
              <a:t>좋은 소식은 형상 축은 제대로 전달됐다는 겁니다. 오늘 보여드린 스케일링 결론은 안 흔들립니다.</a:t>
            </a:r>
          </a:p>
          <a:p/>
          <a:p>
            <a:r>
              <a:rPr sz="1100">
                <a:latin typeface="맑은 고딕"/>
              </a:rPr>
              <a:t>대응은 두 가지입니다. 전류 모드를 고치고,</a:t>
            </a:r>
          </a:p>
          <a:p>
            <a:r>
              <a:rPr sz="1100">
                <a:latin typeface="맑은 고딕"/>
              </a:rPr>
              <a:t>"바꾼 축이 실제로 필드에 도달했는지"를 자동 검사하는 게이트를 파이프라인에 상설화합니다.</a:t>
            </a:r>
          </a:p>
          <a:p>
            <a:r>
              <a:rPr sz="1100">
                <a:latin typeface="맑은 고딕"/>
              </a:rPr>
              <a:t>이번에 이걸 잡은 감사 절차 자체가 재사용 가능한 자산입니다.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그래서 어떻게 개선하고 있느냐. 두 갈래입니다.</a:t>
            </a:r>
          </a:p>
          <a:p/>
          <a:p>
            <a:r>
              <a:rPr sz="1100">
                <a:latin typeface="맑은 고딕"/>
              </a:rPr>
              <a:t>첫 번째는 끝난 겁니다. 물리 사전해 주입.</a:t>
            </a:r>
          </a:p>
          <a:p>
            <a:r>
              <a:rPr sz="1100">
                <a:latin typeface="맑은 고딕"/>
              </a:rPr>
              <a:t>논리는 단순합니다 — 필드 오차를 움직인 유일한 레버가 데이터, 즉 정보였습니다.</a:t>
            </a:r>
          </a:p>
          <a:p>
            <a:r>
              <a:rPr sz="1100">
                <a:latin typeface="맑은 고딕"/>
              </a:rPr>
              <a:t>그러면 정보를 직접 넣어주면 되지 않나. 해석 모델로 계산한 사전해를 입력 특징으로 넣어서,</a:t>
            </a:r>
          </a:p>
          <a:p>
            <a:r>
              <a:rPr sz="1100">
                <a:latin typeface="맑은 고딕"/>
              </a:rPr>
              <a:t>네트워크가 장 전체가 아니라 사전해에 대한 보정만 학습하게 했습니다.</a:t>
            </a:r>
          </a:p>
          <a:p/>
          <a:p>
            <a:r>
              <a:rPr sz="1100">
                <a:latin typeface="맑은 고딕"/>
              </a:rPr>
              <a:t>같은 물리를 손실 함수에 넣어보기도 했고 학습 후 사후 보정으로 넣어보기도 했는데</a:t>
            </a:r>
          </a:p>
          <a:p>
            <a:r>
              <a:rPr sz="1100">
                <a:latin typeface="맑은 고딕"/>
              </a:rPr>
              <a:t>둘 다 필드 오차는 안 움직였습니다. 입력측 주입만 안 해본 축이었습니다.</a:t>
            </a:r>
          </a:p>
          <a:p/>
          <a:p>
            <a:r>
              <a:rPr sz="1100">
                <a:latin typeface="맑은 고딕"/>
              </a:rPr>
              <a:t>결과가 카드에 있습니다. 토크가 2.05pp 개선됐고 전체 필드 오차도 0.54pp 내려갔습니다.</a:t>
            </a:r>
          </a:p>
          <a:p>
            <a:r>
              <a:rPr sz="1100">
                <a:latin typeface="맑은 고딕"/>
              </a:rPr>
              <a:t>공극은 0.16pp로, 사전 등록 기준을 못 넘어 1차 지표는 음성입니다.</a:t>
            </a:r>
          </a:p>
          <a:p>
            <a:r>
              <a:rPr sz="1100">
                <a:latin typeface="맑은 고딕"/>
              </a:rPr>
              <a:t>등록 문구대로 읽으면 "2차 지표 양성, 1차 음성"입니다.</a:t>
            </a:r>
          </a:p>
          <a:p>
            <a:r>
              <a:rPr sz="1100">
                <a:latin typeface="맑은 고딕"/>
              </a:rPr>
              <a:t>그래서 prior를 계속 쓸지를 따로 판단해야 했는데, 유지하기로 결정했습니다.</a:t>
            </a:r>
          </a:p>
          <a:p>
            <a:r>
              <a:rPr sz="1100">
                <a:latin typeface="맑은 고딕"/>
              </a:rPr>
              <a:t>이유는 토크가 G1' 게이트의 실패 항목이었고, 그걸 움직인 레버가 이것뿐이기 때문입니다.</a:t>
            </a:r>
          </a:p>
          <a:p>
            <a:r>
              <a:rPr sz="1100">
                <a:latin typeface="맑은 고딕"/>
              </a:rPr>
              <a:t>데이터 축은 토크를 배가당 0.08pp밖에 못 움직입니다.</a:t>
            </a:r>
          </a:p>
          <a:p/>
          <a:p>
            <a:r>
              <a:rPr sz="1100">
                <a:latin typeface="맑은 고딕"/>
              </a:rPr>
              <a:t>두 번째가 지금 돌고 있는 겁니다. 전류축 복구입니다.</a:t>
            </a:r>
          </a:p>
          <a:p>
            <a:r>
              <a:rPr sz="1100">
                <a:latin typeface="맑은 고딕"/>
              </a:rPr>
              <a:t>앞에서 말씀드린 배선 문제를 고치고, 형상에 전류를 곱한 320케이스로 재학습 중입니다.</a:t>
            </a:r>
          </a:p>
          <a:p>
            <a:r>
              <a:rPr sz="1100">
                <a:latin typeface="맑은 고딕"/>
              </a:rPr>
              <a:t>전류가 실제로 솔브에 반영되는 첫 데이터셋입니다.</a:t>
            </a:r>
          </a:p>
          <a:p>
            <a:r>
              <a:rPr sz="1100">
                <a:latin typeface="맑은 고딕"/>
              </a:rPr>
              <a:t>【발표 시점에 진행 상황이나 결과를 갱신하십시오.】</a:t>
            </a:r>
          </a:p>
          <a:p/>
          <a:p>
            <a:r>
              <a:rPr sz="1100">
                <a:latin typeface="맑은 고딕"/>
              </a:rPr>
              <a:t>부가 자산도 하나 언급드리면, warm-start PoC를 만들다가 numpy와 scipy만으로 도는</a:t>
            </a:r>
          </a:p>
          <a:p>
            <a:r>
              <a:rPr sz="1100">
                <a:latin typeface="맑은 고딕"/>
              </a:rPr>
              <a:t>참조 FEM 솔버를 확보했습니다. Motor-CAD 토크를 0.2% 이내로 재현합니다.</a:t>
            </a:r>
          </a:p>
          <a:p>
            <a:r>
              <a:rPr sz="1100">
                <a:latin typeface="맑은 고딕"/>
              </a:rPr>
              <a:t>상용 라이선스 없이 정답을 만들 수 있다는 뜻이라, 데이터를 우리 손으로 생성할 때 엔진이 됩니다.</a:t>
            </a:r>
          </a:p>
          <a:p/>
          <a:p>
            <a:r>
              <a:rPr sz="1100">
                <a:latin typeface="맑은 고딕"/>
              </a:rPr>
              <a:t>병행해서 논문화도 진행 중입니다. 음성 결과와 게이트를 다시 정의한 것 자체가</a:t>
            </a:r>
          </a:p>
          <a:p>
            <a:r>
              <a:rPr sz="1100">
                <a:latin typeface="맑은 고딕"/>
              </a:rPr>
              <a:t>방법론 기여로 들어갑니다.</a:t>
            </a:r>
          </a:p>
          <a:p/>
          <a:p>
            <a:r>
              <a:rPr sz="1100">
                <a:latin typeface="맑은 고딕"/>
              </a:rPr>
              <a:t>여기까지입니다.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여기까지가 본편입니다. 이하는 질문이 나올 때만 띄우는 백업 슬라이드입니다.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서로게이트를 Newton 반복의 초기값으로 쓰면 FEM 보장을 유지하면서 속도를 벌 수 있지 않나 —</a:t>
            </a:r>
          </a:p>
          <a:p>
            <a:r>
              <a:rPr sz="1100">
                <a:latin typeface="맑은 고딕"/>
              </a:rPr>
              <a:t>Monumo가 제시한 방향이고, 저희는 future work로 남기지 않고 만들어서 쟀습니다.</a:t>
            </a:r>
          </a:p>
          <a:p>
            <a:r>
              <a:rPr sz="1100">
                <a:latin typeface="맑은 고딕"/>
              </a:rPr>
              <a:t>평가 형상 2개 × 45자세 = 90번 솔브입니다.</a:t>
            </a:r>
          </a:p>
          <a:p/>
          <a:p>
            <a:r>
              <a:rPr sz="1100">
                <a:latin typeface="맑은 고딕"/>
              </a:rPr>
              <a:t>결과는 음성입니다. 0에서 시작하면 17.5회인데 AI 초기값은 14.8회로 15% 줄었습니다.</a:t>
            </a:r>
          </a:p>
          <a:p>
            <a:r>
              <a:rPr sz="1100">
                <a:latin typeface="맑은 고딕"/>
              </a:rPr>
              <a:t>그런데 실무에서는 아무도 0에서 시작하지 않습니다. 직전 자세의 해를 이월하는데 그게 9.27회입니다.</a:t>
            </a:r>
          </a:p>
          <a:p>
            <a:r>
              <a:rPr sz="1100">
                <a:latin typeface="맑은 고딕"/>
              </a:rPr>
              <a:t>AI가 60% 더 느립니다.</a:t>
            </a:r>
          </a:p>
          <a:p/>
          <a:p>
            <a:r>
              <a:rPr sz="1100">
                <a:latin typeface="맑은 고딕"/>
              </a:rPr>
              <a:t>왜 졌는지도 알아냈습니다. 이 체크포인트의 필드 오차가 18.7%인데,</a:t>
            </a:r>
          </a:p>
          <a:p>
            <a:r>
              <a:rPr sz="1100">
                <a:latin typeface="맑은 고딕"/>
              </a:rPr>
              <a:t>2도 회전한 이웃 자세의 수렴해는 그보다 훨씬 정확합니다.</a:t>
            </a:r>
          </a:p>
          <a:p>
            <a:r>
              <a:rPr sz="1100">
                <a:latin typeface="맑은 고딕"/>
              </a:rPr>
              <a:t>서로게이트가 이기려면 "2도 회전만큼"보다 정확해야 하는데 근처도 못 갑니다.</a:t>
            </a:r>
          </a:p>
          <a:p>
            <a:r>
              <a:rPr sz="1100">
                <a:latin typeface="맑은 고딕"/>
              </a:rPr>
              <a:t>아이디어의 반증이 아니라 현재 정확도의 결과입니다. 정확도가 올라가면 다시 볼 만합니다.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맑은 고딕"/>
              </a:rPr>
              <a:t>영역별로 쪼갠 성적표입니다. 오른쪽이 도달 가능 바닥입니다.</a:t>
            </a:r>
          </a:p>
          <a:p/>
          <a:p>
            <a:r>
              <a:rPr sz="1100">
                <a:latin typeface="맑은 고딕"/>
              </a:rPr>
              <a:t>전체 pooled 11.6%라는 숫자는 사실 오해를 부릅니다.</a:t>
            </a:r>
          </a:p>
          <a:p>
            <a:r>
              <a:rPr sz="1100">
                <a:latin typeface="맑은 고딕"/>
              </a:rPr>
              <a:t>권선이나 회전자 공기층처럼 장이 거의 0이라 정규화가 폭발하는 영역이 섞여 있습니다.</a:t>
            </a:r>
          </a:p>
          <a:p>
            <a:r>
              <a:rPr sz="1100">
                <a:latin typeface="맑은 고딕"/>
              </a:rPr>
              <a:t>그래서 저희는 pooled보다 공극과 토크를 주 지표로 봅니다.</a:t>
            </a:r>
          </a:p>
          <a:p/>
          <a:p>
            <a:r>
              <a:rPr sz="1100">
                <a:latin typeface="맑은 고딕"/>
              </a:rPr>
              <a:t>토크 5.400%는 case_32를 빼면 3.938%입니다.</a:t>
            </a:r>
          </a:p>
          <a:p>
            <a:r>
              <a:rPr sz="1100">
                <a:latin typeface="맑은 고딕"/>
              </a:rPr>
              <a:t>case_32는 FEM 평균 토크가 −5 N·m/m로 거의 0이라 분모가 작습니다.</a:t>
            </a:r>
          </a:p>
          <a:p>
            <a:r>
              <a:rPr sz="1100">
                <a:latin typeface="맑은 고딕"/>
              </a:rPr>
              <a:t>체리피킹으로 보이지 않게 항상 두 숫자를 같이 보고합니다.</a:t>
            </a:r>
          </a:p>
          <a:p/>
          <a:p>
            <a:r>
              <a:rPr sz="1100">
                <a:latin typeface="맑은 고딕"/>
              </a:rPr>
              <a:t>마지막 줄이 주장 범위입니다. 단일 토폴로지, 형상 두 비율, 2D 자기정적입니다.</a:t>
            </a:r>
          </a:p>
          <a:p>
            <a:r>
              <a:rPr sz="1100">
                <a:latin typeface="맑은 고딕"/>
              </a:rPr>
              <a:t>토폴로지 간 일반화를 주장하지 않습니다.</a:t>
            </a:r>
          </a:p>
          <a:p>
            <a:r>
              <a:rPr sz="1100">
                <a:latin typeface="맑은 고딕"/>
              </a:rPr>
              <a:t>스케일링 곡선도 3점이라 기울기는 정해지지만 함수형은 안 정해집니다.</a:t>
            </a:r>
          </a:p>
          <a:p>
            <a:r>
              <a:rPr sz="1100">
                <a:latin typeface="맑은 고딕"/>
              </a:rPr>
              <a:t>그래서 "3만 4천 형상 필요" 같은 숫자는 예측이 아니라 자릿수 수준의 비현실성 논증으로만 읽어야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7B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65960"/>
            <a:ext cx="10424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맑은 고딕"/>
              </a:rPr>
              <a:t>motorAI — IPM 모터 해석용 GNN 서로게이트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 i="0">
                <a:solidFill>
                  <a:srgbClr val="0F7B6C"/>
                </a:solidFill>
                <a:latin typeface="맑은 고딕"/>
              </a:rPr>
              <a:t>지금 어디까지 왔고, 무엇을 고쳐 나가고 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60520"/>
            <a:ext cx="10424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1A1A1A"/>
                </a:solidFill>
                <a:latin typeface="맑은 고딕"/>
              </a:rPr>
              <a:t>현재 최고:  공극 |B| 7.14%  ·  토크 3.35%  ·  전체 |B| 11.10%   (held-out 6 geometry)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5A5A5A"/>
                </a:solidFill>
                <a:latin typeface="맑은 고딕"/>
              </a:rPr>
              <a:t>목표 게이트 G1′(공극 5% · 토크 3%) — 공극 2.14 pp, 토크 0.35 pp 남았다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5A5A"/>
                </a:solidFill>
                <a:latin typeface="맑은 고딕"/>
              </a:rPr>
              <a:t>사내 세미나 · 2026-08-07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66928" y="384048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한 장 요약 — 상황과 개선 방향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645920"/>
            <a:ext cx="3566160" cy="3429000"/>
          </a:xfrm>
          <a:prstGeom prst="rect">
            <a:avLst/>
          </a:prstGeom>
          <a:solidFill>
            <a:srgbClr val="FAFAFA"/>
          </a:solidFill>
          <a:ln>
            <a:solidFill>
              <a:srgbClr val="0F7B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64592"/>
          <a:lstStyle/>
          <a:p>
            <a:pPr algn="ctr"/>
            <a:r>
              <a:rPr sz="1700" b="1" i="0">
                <a:solidFill>
                  <a:srgbClr val="0F7B6C"/>
                </a:solidFill>
                <a:latin typeface="맑은 고딕"/>
              </a:rPr>
              <a:t>지금 위치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공극 |B|  7.14%   (목표 5%)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토크      3.35%   (목표 3%)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전체 |B|  11.10%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설계 스크리닝 용도(순위 보존)는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현행 정확도로 이미 성립.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정량 예측 용도는 아직 미달.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61688" y="1645920"/>
            <a:ext cx="3566160" cy="3429000"/>
          </a:xfrm>
          <a:prstGeom prst="rect">
            <a:avLst/>
          </a:prstGeom>
          <a:solidFill>
            <a:srgbClr val="FAFAFA"/>
          </a:solidFill>
          <a:ln>
            <a:solidFill>
              <a:srgbClr val="C44E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64592"/>
          <a:lstStyle/>
          <a:p>
            <a:pPr algn="ctr"/>
            <a:r>
              <a:rPr sz="1700" b="1" i="0">
                <a:solidFill>
                  <a:srgbClr val="C44E52"/>
                </a:solidFill>
                <a:latin typeface="맑은 고딕"/>
              </a:rPr>
              <a:t>병목 진단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모델 축은 소진됐다.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용량·감독·아키텍처·표현 네 축을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단일축 통제로 실험 — |B| 바닥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12.7%가 전부 안 움직였다.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움직인 축은 데이터 하나뿐.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그런데 그 기울기로는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게이트에 못 닿는다.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8156448" y="1645920"/>
            <a:ext cx="3566160" cy="3429000"/>
          </a:xfrm>
          <a:prstGeom prst="rect">
            <a:avLst/>
          </a:prstGeom>
          <a:solidFill>
            <a:srgbClr val="FAFAFA"/>
          </a:solidFill>
          <a:ln>
            <a:solidFill>
              <a:srgbClr val="0F7B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64592"/>
          <a:lstStyle/>
          <a:p>
            <a:pPr algn="ctr"/>
            <a:r>
              <a:rPr sz="1700" b="1" i="0">
                <a:solidFill>
                  <a:srgbClr val="0F7B6C"/>
                </a:solidFill>
                <a:latin typeface="맑은 고딕"/>
              </a:rPr>
              <a:t>처방과 첫 결과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① 물리 사전해를 입력에 주입 → 판정 완료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   토크 5.40 → 3.35%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   (단, 1차 지표 공극은 음성 — 밴드 내)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② 지금: 형상×전류 320케이스 학습 중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   전류축을 처음으로 실제 반영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③ 평가·재현성 자산은 이미 확보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349240"/>
            <a:ext cx="11064240" cy="868680"/>
          </a:xfrm>
          <a:prstGeom prst="rect">
            <a:avLst/>
          </a:prstGeom>
          <a:solidFill>
            <a:srgbClr val="F2F7F6"/>
          </a:solidFill>
          <a:ln>
            <a:solidFill>
              <a:srgbClr val="0F7B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28016"/>
          <a:lstStyle/>
          <a:p>
            <a:pPr algn="ctr"/>
            <a:r>
              <a:rPr sz="1700" b="1" i="0">
                <a:solidFill>
                  <a:srgbClr val="0F7B6C"/>
                </a:solidFill>
                <a:latin typeface="맑은 고딕"/>
              </a:rPr>
              <a:t>한 문장으로:  </a:t>
            </a:r>
            <a:r>
              <a:rPr sz="1700" b="1" i="0">
                <a:solidFill>
                  <a:srgbClr val="1A1A1A"/>
                </a:solidFill>
                <a:latin typeface="맑은 고딕"/>
              </a:rPr>
              <a:t>모델을 키워서는 안 됐고 데이터로는 닿지 않았다 — 물리를 주입하자 토크가 처음으로 게이트 사정권에 들어왔다.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배경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무엇을 만들고 있나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4088" y="1737360"/>
            <a:ext cx="2606040" cy="2331720"/>
          </a:xfrm>
          <a:prstGeom prst="rect">
            <a:avLst/>
          </a:prstGeom>
          <a:solidFill>
            <a:srgbClr val="F7F9F9"/>
          </a:solidFill>
          <a:ln>
            <a:solidFill>
              <a:srgbClr val="0F7B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46304"/>
          <a:lstStyle/>
          <a:p>
            <a:pPr algn="ctr"/>
            <a:r>
              <a:rPr sz="1600" b="1" i="0">
                <a:solidFill>
                  <a:srgbClr val="0F7B6C"/>
                </a:solidFill>
                <a:latin typeface="맑은 고딕"/>
              </a:rPr>
              <a:t>① 데이터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Motor-CAD v261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48슬롯/8극 IPM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1/8 반주기 섹터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45자세 회전 스윕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1케이스 ≈ 160초</a:t>
            </a:r>
          </a:p>
        </p:txBody>
      </p:sp>
      <p:sp>
        <p:nvSpPr>
          <p:cNvPr id="6" name="Rectangle 5"/>
          <p:cNvSpPr/>
          <p:nvPr/>
        </p:nvSpPr>
        <p:spPr>
          <a:xfrm>
            <a:off x="3529584" y="1737360"/>
            <a:ext cx="2606040" cy="2331720"/>
          </a:xfrm>
          <a:prstGeom prst="rect">
            <a:avLst/>
          </a:prstGeom>
          <a:solidFill>
            <a:srgbClr val="F7F9F9"/>
          </a:solidFill>
          <a:ln>
            <a:solidFill>
              <a:srgbClr val="CCD5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46304"/>
          <a:lstStyle/>
          <a:p>
            <a:pPr algn="ctr"/>
            <a:r>
              <a:rPr sz="1600" b="1" i="0">
                <a:solidFill>
                  <a:srgbClr val="0F7B6C"/>
                </a:solidFill>
                <a:latin typeface="맑은 고딕"/>
              </a:rPr>
              <a:t>② 그래프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노드 = 메시 절점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엣지 = 요소 변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메시 6-12k 노드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케이스마다 메시가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다르므로 CNN 불가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737360"/>
            <a:ext cx="2606040" cy="2331720"/>
          </a:xfrm>
          <a:prstGeom prst="rect">
            <a:avLst/>
          </a:prstGeom>
          <a:solidFill>
            <a:srgbClr val="F7F9F9"/>
          </a:solidFill>
          <a:ln>
            <a:solidFill>
              <a:srgbClr val="CCD5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46304"/>
          <a:lstStyle/>
          <a:p>
            <a:pPr algn="ctr"/>
            <a:r>
              <a:rPr sz="1600" b="1" i="0">
                <a:solidFill>
                  <a:srgbClr val="0F7B6C"/>
                </a:solidFill>
                <a:latin typeface="맑은 고딕"/>
              </a:rPr>
              <a:t>③ 모델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MeshGraphNet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절점이 이웃과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15회 메시지 교환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9.29 M 파라미터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출력 = 절점 B</a:t>
            </a:r>
          </a:p>
        </p:txBody>
      </p:sp>
      <p:sp>
        <p:nvSpPr>
          <p:cNvPr id="8" name="Rectangle 7"/>
          <p:cNvSpPr/>
          <p:nvPr/>
        </p:nvSpPr>
        <p:spPr>
          <a:xfrm>
            <a:off x="9180576" y="1737360"/>
            <a:ext cx="2606040" cy="2331720"/>
          </a:xfrm>
          <a:prstGeom prst="rect">
            <a:avLst/>
          </a:prstGeom>
          <a:solidFill>
            <a:srgbClr val="F7F9F9"/>
          </a:solidFill>
          <a:ln>
            <a:solidFill>
              <a:srgbClr val="0F7B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46304"/>
          <a:lstStyle/>
          <a:p>
            <a:pPr algn="ctr"/>
            <a:r>
              <a:rPr sz="1600" b="1" i="0">
                <a:solidFill>
                  <a:srgbClr val="0F7B6C"/>
                </a:solidFill>
                <a:latin typeface="맑은 고딕"/>
              </a:rPr>
              <a:t>④ 평가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요소 지지 |B| nRMSE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Arkkio 공극 토크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영역별 분해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case-level 홀드아웃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9768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1A1A1A"/>
                </a:solidFill>
                <a:latin typeface="맑은 고딕"/>
              </a:rPr>
              <a:t>▪ 설계 DOE는 FEA 호출 수천~수만 회. DOE를 +120 케이스 늘리는 데만 5~6시간이 든다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1A1A1A"/>
                </a:solidFill>
                <a:latin typeface="맑은 고딕"/>
              </a:rPr>
              <a:t>▪ 서로게이트가 밀리초에 장을 뱉으면 스크리닝을 맡기고 상위 후보만 FEM으로 검증할 수 있다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0F7B6C"/>
                </a:solidFill>
                <a:latin typeface="맑은 고딕"/>
              </a:rPr>
              <a:t>▪ 핵심 설계 결정: 필드 오차에서 멈추지 않고 공극 밴드에 Arkkio 응력 적분을 걸어 토크까지 평가한다 — 설계자가 실제로 보는 숫자로 판정하기 위해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상황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지금 성적 — 목표 게이트까지 남은 거리</a:t>
            </a:r>
          </a:p>
        </p:txBody>
      </p:sp>
      <p:sp>
        <p:nvSpPr>
          <p:cNvPr id="4" name="sec"/>
          <p:cNvSpPr txBox="1"/>
          <p:nvPr/>
        </p:nvSpPr>
        <p:spPr>
          <a:xfrm>
            <a:off x="10058400" y="365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A5A5A"/>
                </a:solidFill>
                <a:latin typeface="Consolas"/>
              </a:rPr>
              <a:t>§25 §27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minar_fig6_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338" y="1517904"/>
            <a:ext cx="647542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64608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50" b="1" i="0">
                <a:solidFill>
                  <a:srgbClr val="0F7B6C"/>
                </a:solidFill>
                <a:latin typeface="맑은 고딕"/>
              </a:rPr>
              <a:t>▪ 물리 prior 주입으로 토크 5.40 → 3.35% — G1′의 두 항목 중 하나가 사정권(0.35pp)에 들어온 것은 이번이 처음이다</a:t>
            </a:r>
          </a:p>
          <a:p>
            <a:pPr>
              <a:spcAft>
                <a:spcPts val="800"/>
              </a:spcAft>
            </a:pPr>
            <a:r>
              <a:rPr sz="1550" b="1" i="0">
                <a:solidFill>
                  <a:srgbClr val="C44E52"/>
                </a:solidFill>
                <a:latin typeface="맑은 고딕"/>
              </a:rPr>
              <a:t>▪ 다만 사전 등록 1차 지표는 공극이었고 판정은 음성이다 — 7.138%로 기준 7.05%에 0.09pp 못 미쳤다(변동 밴드 내). 두 사실을 같이 보고한다</a:t>
            </a:r>
          </a:p>
          <a:p>
            <a:pPr>
              <a:spcAft>
                <a:spcPts val="800"/>
              </a:spcAft>
            </a:pPr>
            <a:r>
              <a:rPr sz="1550" b="0" i="0">
                <a:solidFill>
                  <a:srgbClr val="1A1A1A"/>
                </a:solidFill>
                <a:latin typeface="맑은 고딕"/>
              </a:rPr>
              <a:t>▪ 공극의 도달 가능 바닥은 2.68%다. 현재 7.14%에는 아직 4.5pp 여유가 있다 — 표현의 한계가 아니라 아직 학습이 못 따라간 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상황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예측 장이 실제로 어떻게 생겼나 — |B| 컨투어</a:t>
            </a:r>
          </a:p>
        </p:txBody>
      </p:sp>
      <p:sp>
        <p:nvSpPr>
          <p:cNvPr id="4" name="sec"/>
          <p:cNvSpPr txBox="1"/>
          <p:nvPr/>
        </p:nvSpPr>
        <p:spPr>
          <a:xfrm>
            <a:off x="10058400" y="365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A5A5A"/>
                </a:solidFill>
                <a:latin typeface="Consolas"/>
              </a:rPr>
              <a:t>case 4 / step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minar_contour_cas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0701" y="1481328"/>
            <a:ext cx="8396694" cy="4526280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66928" y="6327648"/>
            <a:ext cx="11064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A5A5A"/>
                </a:solidFill>
                <a:latin typeface="맑은 고딕"/>
              </a:rPr>
              <a:t>행마다 FEM 참값 · 예측 · 차이(예측−FEM). 요소 단위 flat shading으로 메시 연결성 그대로 그렸고, 슬라이딩 밴드 요소는 유효 형상이 없어 공백으로 둔다. 패널 제목의 수치는 스코어카드의 test 집계값이지 이 한 스텝의 오차가 아니다.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상황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토크 파형 — 연산자 검증과 모델 성능을 한 프레임에서</a:t>
            </a:r>
          </a:p>
        </p:txBody>
      </p:sp>
      <p:sp>
        <p:nvSpPr>
          <p:cNvPr id="4" name="sec"/>
          <p:cNvSpPr txBox="1"/>
          <p:nvPr/>
        </p:nvSpPr>
        <p:spPr>
          <a:xfrm>
            <a:off x="10058400" y="365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A5A5A"/>
                </a:solidFill>
                <a:latin typeface="Consolas"/>
              </a:rPr>
              <a:t>§8c §22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minar_torque_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008" y="1481328"/>
            <a:ext cx="6857999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73736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0F7B6C"/>
                </a:solidFill>
                <a:latin typeface="맑은 고딕"/>
              </a:rPr>
              <a:t>세 곡선이 말하는 것</a:t>
            </a:r>
          </a:p>
          <a:p>
            <a:pPr>
              <a:spcAft>
                <a:spcPts val="9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· 파랑 = Motor-CAD 가상일법 (기준)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F7B6C"/>
                </a:solidFill>
                <a:latin typeface="맑은 고딕"/>
              </a:rPr>
              <a:t>· 초록 = FEM 장 + 우리 Arkkio 연산자. 기준과 겹쳐서 구분이 안 된다 — 평균 0.35%, 연산자 자체의 절대 검증</a:t>
            </a:r>
          </a:p>
          <a:p>
            <a:pPr>
              <a:spcAft>
                <a:spcPts val="9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· 빨강 = 서로게이트 장 + 같은 연산자. 기준과의 간격이 순수한 모델 오차다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C44E52"/>
                </a:solidFill>
                <a:latin typeface="맑은 고딕"/>
              </a:rPr>
              <a:t>· 평균과 리플의 큰 흐름은 따라가지만 일부 구간에서 눈에 띄게 벗어난다 — 아래 오차 패널이 그 구간을 보여준다</a:t>
            </a:r>
          </a:p>
          <a:p>
            <a:pPr>
              <a:spcAft>
                <a:spcPts val="900"/>
              </a:spcAft>
            </a:pPr>
            <a:r>
              <a:rPr sz="1300" b="0" i="0">
                <a:solidFill>
                  <a:srgbClr val="5A5A5A"/>
                </a:solidFill>
                <a:latin typeface="맑은 고딕"/>
              </a:rPr>
              <a:t>· test 집계 토크 nRMSE는 3.354% (§27)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진단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모델 축은 소진됐다 — 단일축 통제 실험</a:t>
            </a:r>
          </a:p>
        </p:txBody>
      </p:sp>
      <p:sp>
        <p:nvSpPr>
          <p:cNvPr id="4" name="sec"/>
          <p:cNvSpPr txBox="1"/>
          <p:nvPr/>
        </p:nvSpPr>
        <p:spPr>
          <a:xfrm>
            <a:off x="10058400" y="365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A5A5A"/>
                </a:solidFill>
                <a:latin typeface="Consolas"/>
              </a:rPr>
              <a:t>§13 §15-21b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minar_fig1_elim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5679" y="1481328"/>
            <a:ext cx="7246738" cy="4709160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566928" y="6327648"/>
            <a:ext cx="11064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A5A5A"/>
                </a:solidFill>
                <a:latin typeface="맑은 고딕"/>
              </a:rPr>
              <a:t>각 막대는 바로 앞 구성에서 이름 붙은 축 하나만 바꾼 것 — 동일 홀드아웃·동일 샘플·동일 채점. 청록색(데이터)만 바닥을 깼다.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진단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데이터는 통했다 — 그러나 기울기가 게이트에 못 닿는다</a:t>
            </a:r>
          </a:p>
        </p:txBody>
      </p:sp>
      <p:sp>
        <p:nvSpPr>
          <p:cNvPr id="4" name="sec"/>
          <p:cNvSpPr txBox="1"/>
          <p:nvPr/>
        </p:nvSpPr>
        <p:spPr>
          <a:xfrm>
            <a:off x="10058400" y="365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A5A5A"/>
                </a:solidFill>
                <a:latin typeface="Consolas"/>
              </a:rPr>
              <a:t>§20 §21b §21c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minar_fig2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24" y="1463040"/>
            <a:ext cx="7739808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169164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0F7B6C"/>
                </a:solidFill>
                <a:latin typeface="맑은 고딕"/>
              </a:rPr>
              <a:t>읽는 법</a:t>
            </a:r>
          </a:p>
          <a:p>
            <a:pPr>
              <a:spcAft>
                <a:spcPts val="1000"/>
              </a:spcAft>
            </a:pPr>
            <a:r>
              <a:rPr sz="1350" b="1" i="0">
                <a:solidFill>
                  <a:srgbClr val="0F7B6C"/>
                </a:solidFill>
                <a:latin typeface="맑은 고딕"/>
              </a:rPr>
              <a:t>· 학습 형상 40 → 120 → 240에서 |B| 12.75 → 11.96 → 11.64%</a:t>
            </a:r>
          </a:p>
          <a:p>
            <a:pPr>
              <a:spcAft>
                <a:spcPts val="1000"/>
              </a:spcAft>
            </a:pPr>
            <a:r>
              <a:rPr sz="1350" b="0" i="0">
                <a:solidFill>
                  <a:srgbClr val="1A1A1A"/>
                </a:solidFill>
                <a:latin typeface="맑은 고딕"/>
              </a:rPr>
              <a:t>· 6개 test 형상 전부, 매 단계 개선 — 한 케이스가 끄는 게 아니다</a:t>
            </a:r>
          </a:p>
          <a:p>
            <a:pPr>
              <a:spcAft>
                <a:spcPts val="1000"/>
              </a:spcAft>
            </a:pPr>
            <a:r>
              <a:rPr sz="1350" b="0" i="0">
                <a:solidFill>
                  <a:srgbClr val="5A5A5A"/>
                </a:solidFill>
                <a:latin typeface="맑은 고딕"/>
              </a:rPr>
              <a:t>· 속 빈 점: 같은 데이터를 절반 에폭으로 학습한 결과. '포화'로 오독했던 지점 → 에폭을 데이터에 맞춰 늘리자 회복됐다</a:t>
            </a:r>
          </a:p>
          <a:p>
            <a:pPr>
              <a:spcAft>
                <a:spcPts val="1000"/>
              </a:spcAft>
            </a:pPr>
            <a:r>
              <a:rPr sz="1350" b="1" i="0">
                <a:solidFill>
                  <a:srgbClr val="C44E52"/>
                </a:solidFill>
                <a:latin typeface="맑은 고딕"/>
              </a:rPr>
              <a:t>· 측정 기울기 −0.30pp/배가. 공극 기준으로도 5%까지 약 7배가 ≈ 3.4만 형상 ≈ 솔브 62일</a:t>
            </a:r>
          </a:p>
          <a:p>
            <a:pPr>
              <a:spcAft>
                <a:spcPts val="1000"/>
              </a:spcAft>
            </a:pPr>
            <a:r>
              <a:rPr sz="1350" b="1" i="0">
                <a:solidFill>
                  <a:srgbClr val="C44E52"/>
                </a:solidFill>
                <a:latin typeface="맑은 고딕"/>
              </a:rPr>
              <a:t>· → 데이터 축은 살아 있으나 현실적 비용 안에서는 게이트에 못 닿는다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근거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이 숫자를 믿을 수 있는 이유</a:t>
            </a:r>
          </a:p>
        </p:txBody>
      </p:sp>
      <p:sp>
        <p:nvSpPr>
          <p:cNvPr id="4" name="sec"/>
          <p:cNvSpPr txBox="1"/>
          <p:nvPr/>
        </p:nvSpPr>
        <p:spPr>
          <a:xfrm>
            <a:off x="10058400" y="365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A5A5A"/>
                </a:solidFill>
                <a:latin typeface="Consolas"/>
              </a:rPr>
              <a:t>§7-9 §22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45920"/>
            <a:ext cx="3566160" cy="4069080"/>
          </a:xfrm>
          <a:prstGeom prst="rect">
            <a:avLst/>
          </a:prstGeom>
          <a:solidFill>
            <a:srgbClr val="FAFAFA"/>
          </a:solidFill>
          <a:ln>
            <a:solidFill>
              <a:srgbClr val="CCD5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64592"/>
          <a:lstStyle/>
          <a:p>
            <a:pPr algn="ctr"/>
            <a:r>
              <a:rPr sz="1550" b="1" i="0">
                <a:solidFill>
                  <a:srgbClr val="0F7B6C"/>
                </a:solidFill>
                <a:latin typeface="맑은 고딕"/>
              </a:rPr>
              <a:t>누수를 세 종류로 잡아냈다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타깃 / 지름길 / split 누수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time_s는 회전자각과 상관계수 1.0000 —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정보량 0인 중복 특징인데 모델이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주 단서로 학습했다.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이 값 하나만 바꾸니 토크가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−264 → +48로 부호까지 뒤집혔다.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제거 + case-level 홀드아웃 후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전 모델의 순위가 바뀌었다.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61688" y="1645920"/>
            <a:ext cx="3566160" cy="4069080"/>
          </a:xfrm>
          <a:prstGeom prst="rect">
            <a:avLst/>
          </a:prstGeom>
          <a:solidFill>
            <a:srgbClr val="FAFAFA"/>
          </a:solidFill>
          <a:ln>
            <a:solidFill>
              <a:srgbClr val="CCD5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64592"/>
          <a:lstStyle/>
          <a:p>
            <a:pPr algn="ctr"/>
            <a:r>
              <a:rPr sz="1550" b="1" i="0">
                <a:solidFill>
                  <a:srgbClr val="0F7B6C"/>
                </a:solidFill>
                <a:latin typeface="맑은 고딕"/>
              </a:rPr>
              <a:t>표현 바닥값을 먼저 쟀다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참값을 그 표현으로 왕복시킨 오차 =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학습으로 도달 불가능한 하한.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절점 왕복   |B| 16.98%  토크 59.5%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이산 curl   |B| 5.31%  토크 1.58%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표현만 바꿔도 토크 바닥이 37배 갈린다.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모델을 탓하기 전에 잴 것.</a:t>
            </a:r>
          </a:p>
        </p:txBody>
      </p:sp>
      <p:sp>
        <p:nvSpPr>
          <p:cNvPr id="8" name="Rectangle 7"/>
          <p:cNvSpPr/>
          <p:nvPr/>
        </p:nvSpPr>
        <p:spPr>
          <a:xfrm>
            <a:off x="8156448" y="1645920"/>
            <a:ext cx="3566160" cy="4069080"/>
          </a:xfrm>
          <a:prstGeom prst="rect">
            <a:avLst/>
          </a:prstGeom>
          <a:solidFill>
            <a:srgbClr val="FAFAFA"/>
          </a:solidFill>
          <a:ln>
            <a:solidFill>
              <a:srgbClr val="CCD5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64592"/>
          <a:lstStyle/>
          <a:p>
            <a:pPr algn="ctr"/>
            <a:r>
              <a:rPr sz="1550" b="1" i="0">
                <a:solidFill>
                  <a:srgbClr val="0F7B6C"/>
                </a:solidFill>
                <a:latin typeface="맑은 고딕"/>
              </a:rPr>
              <a:t>토크 연산자를 절대 검증했다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Arkkio 적분 vs Motor-CAD 가상일법,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전기각 한 주기 전체 대조: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평균 토크 오차      0.35%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자세별 RMSE        0.54%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파형 상관계수      0.996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재현성: sha256 체크포인트 registry,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맑은 고딕"/>
              </a:rPr>
              <a:t>3회 반복 스코어카드 바이트 동일.</a:t>
            </a:r>
          </a:p>
        </p:txBody>
      </p:sp>
      <p:sp>
        <p:nvSpPr>
          <p:cNvPr id="9" name="caption"/>
          <p:cNvSpPr txBox="1"/>
          <p:nvPr/>
        </p:nvSpPr>
        <p:spPr>
          <a:xfrm>
            <a:off x="566928" y="5897880"/>
            <a:ext cx="11064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A5A5A"/>
                </a:solidFill>
                <a:latin typeface="맑은 고딕"/>
              </a:rPr>
              <a:t>평가 체계를 먼저 세운 것이 이 캠페인의 차별점이다 — 이게 없었다면 위의 소거 결론 자체를 신뢰할 수 없다.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개선 항목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최근 발견 — DOE 전류축이 솔브에 전달되지 않았다</a:t>
            </a:r>
          </a:p>
        </p:txBody>
      </p:sp>
      <p:sp>
        <p:nvSpPr>
          <p:cNvPr id="4" name="sec"/>
          <p:cNvSpPr txBox="1"/>
          <p:nvPr/>
        </p:nvSpPr>
        <p:spPr>
          <a:xfrm>
            <a:off x="10058400" y="365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A5A5A"/>
                </a:solidFill>
                <a:latin typeface="Consolas"/>
              </a:rPr>
              <a:t>§24 §26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5623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C44E52"/>
                </a:solidFill>
                <a:latin typeface="맑은 고딕"/>
              </a:rPr>
              <a:t>발견 — export된 전류밀도 감사</a:t>
            </a:r>
          </a:p>
          <a:p>
            <a:pPr>
              <a:spcAft>
                <a:spcPts val="5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case  6   Ipk  18.18 A   →  A-turns 325.24</a:t>
            </a:r>
          </a:p>
          <a:p>
            <a:pPr>
              <a:spcAft>
                <a:spcPts val="5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case  4   Ipk 224.05 A   →  A-turns 325.27</a:t>
            </a:r>
          </a:p>
          <a:p>
            <a:pPr>
              <a:spcAft>
                <a:spcPts val="500"/>
              </a:spcAft>
            </a:pPr>
            <a:r>
              <a:rPr sz="1400" b="0" i="0">
                <a:solidFill>
                  <a:srgbClr val="1A1A1A"/>
                </a:solidFill>
                <a:latin typeface="Consolas"/>
              </a:rPr>
              <a:t>case 17   Ipk 646.33 A   →  A-turns 325.19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맑은 고딕"/>
              </a:rPr>
              <a:t>Ipk가 35배 변하는 동안 여자는 0.03% 안에서 동일하다.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572768"/>
            <a:ext cx="5349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0F7B6C"/>
                </a:solidFill>
                <a:latin typeface="맑은 고딕"/>
              </a:rPr>
              <a:t>루트 코즈 — 인과 솔브 2회로 확정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맑은 고딕"/>
              </a:rPr>
              <a:t>· 전 케이스가 RMS 전류 모드로 설정돼 있었다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맑은 고딕"/>
              </a:rPr>
              <a:t>· 그 모드에서 PeakCurrent는 솔브 입력이 아니라 파생 표시량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맑은 고딕"/>
              </a:rPr>
              <a:t>· PeakCurrent 224→100 : 토크 무반응 (소수 4자리까지)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1A1A1A"/>
                </a:solidFill>
                <a:latin typeface="맑은 고딕"/>
              </a:rPr>
              <a:t>· RMSCurrent 460→230 : 토크 −43% ← 이게 진짜 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041648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맑은 고딕"/>
              </a:rPr>
              <a:t>함의와 대응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44E52"/>
                </a:solidFill>
                <a:latin typeface="맑은 고딕"/>
              </a:rPr>
              <a:t>· 전 케이스가 같은 여자 수준에서 풀렸다 → 학습 데이터에 포화 다양성이 0이다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44E52"/>
                </a:solidFill>
                <a:latin typeface="맑은 고딕"/>
              </a:rPr>
              <a:t>· 배포 시 '전류를 바꾸면 예측이 따라온다'는 기대는 틀린다 — 모델은 전류 의존성을 본 적이 없다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F7B6C"/>
                </a:solidFill>
                <a:latin typeface="맑은 고딕"/>
              </a:rPr>
              <a:t>· 형상 스케일링 결론은 불변 — 그 축은 실제로 전달됐다. 오늘 보여드린 곡선은 그대로 선다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F7B6C"/>
                </a:solidFill>
                <a:latin typeface="맑은 고딕"/>
              </a:rPr>
              <a:t>· 대응: 전류 모드 수정 + '바꾼 축이 실제로 필드에 도달했는가'를 검사하는 게이트를 생성 파이프라인에 상설화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다음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개선 경로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5440680" cy="3977639"/>
          </a:xfrm>
          <a:prstGeom prst="rect">
            <a:avLst/>
          </a:prstGeom>
          <a:solidFill>
            <a:srgbClr val="FAFAFA"/>
          </a:solidFill>
          <a:ln>
            <a:solidFill>
              <a:srgbClr val="0F7B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46304"/>
          <a:lstStyle/>
          <a:p>
            <a:pPr algn="ctr"/>
            <a:r>
              <a:rPr sz="1600" b="1" i="0">
                <a:solidFill>
                  <a:srgbClr val="0F7B6C"/>
                </a:solidFill>
                <a:latin typeface="맑은 고딕"/>
              </a:rPr>
              <a:t>① 물리 사전해 주입 — 판정 완료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해석 모델로 계산한 per-node prior를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입력 특징에 추가. 네트워크는 장 전체가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아니라 prior에 대한 보정을 학습한다.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왜 이 축인가: |B|를 움직인 유일한 레버가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정보였다. 손실 감독·사후 사영은 이미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시도했고 |B|는 안 움직였다 — 입력측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주입만 미시도 축이었다.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결과: 토크 5.40 → 3.35% (-2.05pp)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         전체 |B| 11.64 → 11.10%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         공극 7.30 → 7.14% (1차 지표 음성)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→ prior를 유지하기로 결정 (§27)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6208" y="1627632"/>
            <a:ext cx="5440680" cy="3977639"/>
          </a:xfrm>
          <a:prstGeom prst="rect">
            <a:avLst/>
          </a:prstGeom>
          <a:solidFill>
            <a:srgbClr val="FAFAFA"/>
          </a:solidFill>
          <a:ln>
            <a:solidFill>
              <a:srgbClr val="C44E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46304"/>
          <a:lstStyle/>
          <a:p>
            <a:pPr algn="ctr"/>
            <a:r>
              <a:rPr sz="1600" b="1" i="0">
                <a:solidFill>
                  <a:srgbClr val="C44E52"/>
                </a:solidFill>
                <a:latin typeface="맑은 고딕"/>
              </a:rPr>
              <a:t>② 전류축 복구 후 확장 — 진행 중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여자 배선을 고치고(전류 모드 수정 +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A-turns 검사 게이트) 형상×전류 320케이스로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재학습 중. 전류축이 실제로 솔브에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반영되는 첫 데이터셋이다.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현재 running — epoch 25/50 (ETA 2026-08-08 03:54 UTC)</a:t>
            </a:r>
          </a:p>
          <a:p>
            <a:pPr>
              <a:spcAft>
                <a:spcPts val="200"/>
              </a:spcAft>
            </a:pPr>
            <a:r>
              <a:rPr sz="1300" b="1" i="0">
                <a:solidFill>
                  <a:srgbClr val="C44E52"/>
                </a:solidFill>
                <a:latin typeface="맑은 고딕"/>
              </a:rPr>
              <a:t>※ 발표 시점에 진행/결과를 갱신할 것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/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부가 자산: numpy+scipy만으로 도는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참조 FEM 솔버를 확보했다.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Motor-CAD 토크를 0.06~0.18%로 재현 —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라이선스 없이 라벨 생성이 가능하다.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806440"/>
            <a:ext cx="11064240" cy="731520"/>
          </a:xfrm>
          <a:prstGeom prst="rect">
            <a:avLst/>
          </a:prstGeom>
          <a:solidFill>
            <a:srgbClr val="F2F7F6"/>
          </a:solidFill>
          <a:ln>
            <a:solidFill>
              <a:srgbClr val="0F7B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/>
            <a:r>
              <a:rPr sz="1600" b="1" i="0">
                <a:solidFill>
                  <a:srgbClr val="0F7B6C"/>
                </a:solidFill>
                <a:latin typeface="맑은 고딕"/>
              </a:rPr>
              <a:t>병행:  </a:t>
            </a:r>
            <a:r>
              <a:rPr sz="1600" b="0" i="0">
                <a:solidFill>
                  <a:srgbClr val="1A1A1A"/>
                </a:solidFill>
                <a:latin typeface="맑은 고딕"/>
              </a:rPr>
              <a:t>논문화 (IEEE Trans. Energy Conversion / Magnetics) — 기여 7건·그림 5장 정리 완료. 음성 결과와 게이트 재정의 자체가 방법론 기여로 들어간다.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80360"/>
            <a:ext cx="12191695" cy="1097280"/>
          </a:xfrm>
          <a:prstGeom prst="rect">
            <a:avLst/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0F7B6C"/>
                </a:solidFill>
                <a:latin typeface="맑은 고딕"/>
              </a:rPr>
              <a:t>이하 백업 — 질문 대응용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Backup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백업 — FEM warm-start PoC (음성)</a:t>
            </a:r>
          </a:p>
        </p:txBody>
      </p:sp>
      <p:sp>
        <p:nvSpPr>
          <p:cNvPr id="4" name="sec"/>
          <p:cNvSpPr txBox="1"/>
          <p:nvPr/>
        </p:nvSpPr>
        <p:spPr>
          <a:xfrm>
            <a:off x="10058400" y="365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A5A5A"/>
                </a:solidFill>
                <a:latin typeface="Consolas"/>
              </a:rPr>
              <a:t>§23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_fem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36266"/>
            <a:ext cx="7086600" cy="34255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82127" y="1554480"/>
            <a:ext cx="38862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C44E52"/>
                </a:solidFill>
                <a:latin typeface="맑은 고딕"/>
              </a:rPr>
              <a:t>판정: 음성 (사전 등록 기준대로)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· zero 초기값 17.50회 → AI 14.82회 (−15%)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· 직전 회전각 warm-start는 9.27회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· 실무 표준 대비 +60%. 아직 안 산다.</a:t>
            </a:r>
          </a:p>
          <a:p>
            <a:pPr>
              <a:spcAft>
                <a:spcPts val="400"/>
              </a:spcAft>
            </a:pPr>
            <a:r>
              <a:rPr sz="1550" b="1" i="0">
                <a:solidFill>
                  <a:srgbClr val="0F7B6C"/>
                </a:solidFill>
                <a:latin typeface="맑은 고딕"/>
              </a:rPr>
              <a:t>왜 졌는지도 알아냈다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· 이 체크포인트의 |B|는 18.73%(§19)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· 2도 회전한 이웃 자세의 수렴해가 그보다 훨씬 정확하다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1A1A1A"/>
                </a:solidFill>
                <a:latin typeface="맑은 고딕"/>
              </a:rPr>
              <a:t>· → 현재 정확도의 귀결이지 아이디어의 반증이 아니다</a:t>
            </a:r>
          </a:p>
          <a:p>
            <a:pPr>
              <a:spcAft>
                <a:spcPts val="400"/>
              </a:spcAft>
            </a:pPr>
            <a:r>
              <a:rPr sz="1550" b="1" i="0">
                <a:solidFill>
                  <a:srgbClr val="0F7B6C"/>
                </a:solidFill>
                <a:latin typeface="맑은 고딕"/>
              </a:rPr>
              <a:t>남은 자산이 더 크다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0F7B6C"/>
                </a:solidFill>
                <a:latin typeface="맑은 고딕"/>
              </a:rPr>
              <a:t>· numpy + scipy만으로 도는 참조 FEM 솔버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0F7B6C"/>
                </a:solidFill>
                <a:latin typeface="맑은 고딕"/>
              </a:rPr>
              <a:t>· 45자세 전 구간 Motor-CAD 토크를 0.06~0.18% 재현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0F7B6C"/>
                </a:solidFill>
                <a:latin typeface="맑은 고딕"/>
              </a:rPr>
              <a:t>· 상용 라이선스 없이 정답 재유도 가능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66928" y="274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0F7B6C"/>
                </a:solidFill>
                <a:latin typeface="맑은 고딕"/>
              </a:rPr>
              <a:t>Backup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66928" y="585216"/>
            <a:ext cx="9601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A1A1A"/>
                </a:solidFill>
                <a:latin typeface="맑은 고딕"/>
              </a:rPr>
              <a:t>백업 — 영역별 성적표와 재현성</a:t>
            </a:r>
          </a:p>
        </p:txBody>
      </p:sp>
      <p:sp>
        <p:nvSpPr>
          <p:cNvPr id="4" name="sec"/>
          <p:cNvSpPr txBox="1"/>
          <p:nvPr/>
        </p:nvSpPr>
        <p:spPr>
          <a:xfrm>
            <a:off x="10058400" y="36576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A5A5A"/>
                </a:solidFill>
                <a:latin typeface="Consolas"/>
              </a:rPr>
              <a:t>§21b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35024"/>
            <a:ext cx="11064240" cy="9525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00200"/>
          <a:ext cx="1106424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03120"/>
                <a:gridCol w="2377440"/>
                <a:gridCol w="4206240"/>
              </a:tblGrid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영역</a:t>
                      </a:r>
                    </a:p>
                  </a:txBody>
                  <a:tcPr anchor="ctr" marL="73152" marR="73152" marT="18288" marB="18288">
                    <a:solidFill>
                      <a:srgbClr val="0F7B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챔피언 |B|</a:t>
                      </a:r>
                    </a:p>
                  </a:txBody>
                  <a:tcPr anchor="ctr" marL="73152" marR="73152" marT="18288" marB="18288">
                    <a:solidFill>
                      <a:srgbClr val="0F7B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curl 표현 바닥</a:t>
                      </a:r>
                    </a:p>
                  </a:txBody>
                  <a:tcPr anchor="ctr" marL="73152" marR="73152" marT="18288" marB="18288">
                    <a:solidFill>
                      <a:srgbClr val="0F7B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판독</a:t>
                      </a:r>
                    </a:p>
                  </a:txBody>
                  <a:tcPr anchor="ctr" marL="73152" marR="73152" marT="18288" marB="18288">
                    <a:solidFill>
                      <a:srgbClr val="0F7B6C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7B6C"/>
                          </a:solidFill>
                          <a:latin typeface="맑은 고딕"/>
                        </a:rPr>
                        <a:t>공극 (airgap)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7B6C"/>
                          </a:solidFill>
                          <a:latin typeface="맑은 고딕"/>
                        </a:rPr>
                        <a:t>7.30%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7B6C"/>
                          </a:solidFill>
                          <a:latin typeface="맑은 고딕"/>
                        </a:rPr>
                        <a:t>2.68%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7B6C"/>
                          </a:solidFill>
                          <a:latin typeface="맑은 고딕"/>
                        </a:rPr>
                        <a:t>토크가 계산되는 곳. 여유 4.6pp</a:t>
                      </a:r>
                    </a:p>
                  </a:txBody>
                  <a:tcPr anchor="ctr" marL="73152" marR="73152" marT="18288" marB="18288"/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회전자 철심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10.48%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5.35%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포화 영역, 개선 여지 있음</a:t>
                      </a:r>
                    </a:p>
                  </a:txBody>
                  <a:tcPr anchor="ctr" marL="73152" marR="73152" marT="18288" marB="18288"/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고정자 치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11.66%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4.94%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슬롯 고조파 지배</a:t>
                      </a:r>
                    </a:p>
                  </a:txBody>
                  <a:tcPr anchor="ctr" marL="73152" marR="73152" marT="18288" marB="18288"/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자석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12.83%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4.47%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스케일링에서 거의 안 움직인 영역</a:t>
                      </a:r>
                    </a:p>
                  </a:txBody>
                  <a:tcPr anchor="ctr" marL="73152" marR="73152" marT="18288" marB="18288"/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전체 (pooled)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11.638%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5.31%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맑은 고딕"/>
                        </a:rPr>
                        <a:t>노이즈 지배 영역이 섞여 있음</a:t>
                      </a:r>
                    </a:p>
                  </a:txBody>
                  <a:tcPr anchor="ctr" marL="73152" marR="73152" marT="18288" marB="18288"/>
                </a:tc>
              </a:tr>
              <a:tr h="37229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7B6C"/>
                          </a:solidFill>
                          <a:latin typeface="맑은 고딕"/>
                        </a:rPr>
                        <a:t>토크 nRMSE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7B6C"/>
                          </a:solidFill>
                          <a:latin typeface="맑은 고딕"/>
                        </a:rPr>
                        <a:t>5.400%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7B6C"/>
                          </a:solidFill>
                          <a:latin typeface="맑은 고딕"/>
                        </a:rPr>
                        <a:t>1.58%</a:t>
                      </a:r>
                    </a:p>
                  </a:txBody>
                  <a:tcPr anchor="ctr" marL="73152" marR="73152" marT="18288" marB="18288"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7B6C"/>
                          </a:solidFill>
                          <a:latin typeface="맑은 고딕"/>
                        </a:rPr>
                        <a:t>case_32 제외 시 3.938%</a:t>
                      </a:r>
                    </a:p>
                  </a:txBody>
                  <a:tcPr anchor="ctr" marL="73152" marR="73152" marT="18288" marB="18288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43484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 i="0">
                <a:solidFill>
                  <a:srgbClr val="1A1A1A"/>
                </a:solidFill>
                <a:latin typeface="맑은 고딕"/>
              </a:rPr>
              <a:t>▪ 표는 prior 이전 기준선(doe240_bw30_ep50, 930만 파라미터 / 230 학습 형상 / 50에폭). 물리 prior 적용 후: 공극 7.138 · 전체 11.096 · 토크 3.354% (§27)</a:t>
            </a:r>
          </a:p>
          <a:p>
            <a:pPr>
              <a:spcAft>
                <a:spcPts val="900"/>
              </a:spcAft>
            </a:pPr>
            <a:r>
              <a:rPr sz="1500" b="0" i="0">
                <a:solidFill>
                  <a:srgbClr val="1A1A1A"/>
                </a:solidFill>
                <a:latin typeface="맑은 고딕"/>
              </a:rPr>
              <a:t>▪ 재현성 — sha256 체크포인트 registry, 결정성 고정 후 3회 반복 스코어카드 바이트 동일, split manifest에 DOE 다이제스트 내장, 컨테이너 physicsnemo:26.03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C44E52"/>
                </a:solidFill>
                <a:latin typeface="맑은 고딕"/>
              </a:rPr>
              <a:t>▪ 한계 — 단일 토폴로지(48슬롯/8극), 형상은 두 비율만 변화, 2D 자기정적, val 4 / test 6 형상. 스케일링 곡선 3점은 기울기는 정해도 함수형은 못 정한다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